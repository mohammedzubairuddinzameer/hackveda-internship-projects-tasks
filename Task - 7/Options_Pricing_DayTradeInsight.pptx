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8" r:id="rId3"/>
    <p:sldId id="257" r:id="rId4"/>
    <p:sldId id="258" r:id="rId5"/>
    <p:sldId id="259" r:id="rId6"/>
    <p:sldId id="260" r:id="rId7"/>
    <p:sldId id="261" r:id="rId8"/>
    <p:sldId id="262" r:id="rId9"/>
    <p:sldId id="263" r:id="rId10"/>
    <p:sldId id="264" r:id="rId11"/>
    <p:sldId id="265" r:id="rId12"/>
    <p:sldId id="267" r:id="rId13"/>
    <p:sldId id="266" r:id="rId1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629"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www.cboe.com/"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74320" cy="68580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702552" y="0"/>
            <a:ext cx="5486400" cy="5486400"/>
          </a:xfrm>
          <a:prstGeom prst="rect">
            <a:avLst/>
          </a:prstGeom>
          <a:solidFill>
            <a:srgbClr val="005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371600"/>
            <a:ext cx="8229600" cy="1097280"/>
          </a:xfrm>
          <a:prstGeom prst="rect">
            <a:avLst/>
          </a:prstGeom>
          <a:noFill/>
        </p:spPr>
        <p:txBody>
          <a:bodyPr wrap="square">
            <a:spAutoFit/>
          </a:bodyPr>
          <a:lstStyle/>
          <a:p>
            <a:pPr algn="l"/>
            <a:r>
              <a:rPr sz="5400" b="1" i="0">
                <a:solidFill>
                  <a:srgbClr val="FFFFFF"/>
                </a:solidFill>
                <a:latin typeface="Calibri"/>
              </a:rPr>
              <a:t>OPTIONS PRICING</a:t>
            </a:r>
          </a:p>
        </p:txBody>
      </p:sp>
      <p:sp>
        <p:nvSpPr>
          <p:cNvPr id="6" name="Rectangle 5"/>
          <p:cNvSpPr/>
          <p:nvPr/>
        </p:nvSpPr>
        <p:spPr>
          <a:xfrm>
            <a:off x="640080" y="2606040"/>
            <a:ext cx="4114800" cy="54864"/>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743200"/>
            <a:ext cx="8229600" cy="731520"/>
          </a:xfrm>
          <a:prstGeom prst="rect">
            <a:avLst/>
          </a:prstGeom>
          <a:noFill/>
        </p:spPr>
        <p:txBody>
          <a:bodyPr wrap="square">
            <a:spAutoFit/>
          </a:bodyPr>
          <a:lstStyle/>
          <a:p>
            <a:pPr algn="l"/>
            <a:r>
              <a:rPr sz="2200" b="0" i="1">
                <a:solidFill>
                  <a:srgbClr val="CCE5FF"/>
                </a:solidFill>
                <a:latin typeface="Calibri"/>
              </a:rPr>
              <a:t>A Complete Insight for Day Traders</a:t>
            </a:r>
          </a:p>
        </p:txBody>
      </p:sp>
      <p:sp>
        <p:nvSpPr>
          <p:cNvPr id="8" name="TextBox 7"/>
          <p:cNvSpPr txBox="1"/>
          <p:nvPr/>
        </p:nvSpPr>
        <p:spPr>
          <a:xfrm>
            <a:off x="640080" y="3566160"/>
            <a:ext cx="9144000" cy="548640"/>
          </a:xfrm>
          <a:prstGeom prst="rect">
            <a:avLst/>
          </a:prstGeom>
          <a:noFill/>
        </p:spPr>
        <p:txBody>
          <a:bodyPr wrap="square">
            <a:spAutoFit/>
          </a:bodyPr>
          <a:lstStyle/>
          <a:p>
            <a:pPr algn="l"/>
            <a:r>
              <a:rPr sz="1400" b="0" i="0">
                <a:solidFill>
                  <a:srgbClr val="7E9BB5"/>
                </a:solidFill>
                <a:latin typeface="Calibri"/>
              </a:rPr>
              <a:t>Strategies  •  Greeks  •  Volatility  •  Risk Management</a:t>
            </a:r>
          </a:p>
        </p:txBody>
      </p:sp>
      <p:sp>
        <p:nvSpPr>
          <p:cNvPr id="9" name="TextBox 8"/>
          <p:cNvSpPr txBox="1"/>
          <p:nvPr/>
        </p:nvSpPr>
        <p:spPr>
          <a:xfrm>
            <a:off x="640080" y="5943600"/>
            <a:ext cx="4572000" cy="338554"/>
          </a:xfrm>
          <a:prstGeom prst="rect">
            <a:avLst/>
          </a:prstGeom>
          <a:noFill/>
        </p:spPr>
        <p:txBody>
          <a:bodyPr wrap="square">
            <a:spAutoFit/>
          </a:bodyPr>
          <a:lstStyle/>
          <a:p>
            <a:pPr algn="l"/>
            <a:r>
              <a:rPr lang="en-IN" sz="1600" b="0" i="0" dirty="0">
                <a:solidFill>
                  <a:srgbClr val="00C9B1"/>
                </a:solidFill>
                <a:latin typeface="Calibri"/>
              </a:rPr>
              <a:t>Mohammed Zubair Uddin Zameer</a:t>
            </a:r>
            <a:endParaRPr sz="1600" b="0" i="0" dirty="0">
              <a:solidFill>
                <a:srgbClr val="00C9B1"/>
              </a:solidFill>
              <a:latin typeface="Calibri"/>
            </a:endParaRPr>
          </a:p>
        </p:txBody>
      </p:sp>
      <p:sp>
        <p:nvSpPr>
          <p:cNvPr id="10" name="TextBox 9"/>
          <p:cNvSpPr txBox="1"/>
          <p:nvPr/>
        </p:nvSpPr>
        <p:spPr>
          <a:xfrm>
            <a:off x="640080" y="6309360"/>
            <a:ext cx="9144000" cy="307777"/>
          </a:xfrm>
          <a:prstGeom prst="rect">
            <a:avLst/>
          </a:prstGeom>
          <a:noFill/>
        </p:spPr>
        <p:txBody>
          <a:bodyPr wrap="square">
            <a:spAutoFit/>
          </a:bodyPr>
          <a:lstStyle/>
          <a:p>
            <a:pPr algn="l"/>
            <a:r>
              <a:rPr lang="en-IN" sz="1400" b="0" i="0" dirty="0">
                <a:solidFill>
                  <a:srgbClr val="7E9BB5"/>
                </a:solidFill>
                <a:latin typeface="Calibri"/>
              </a:rPr>
              <a:t>Python Developer Intern  </a:t>
            </a:r>
            <a:r>
              <a:rPr sz="1400" b="0" i="0" dirty="0">
                <a:solidFill>
                  <a:srgbClr val="7E9BB5"/>
                </a:solidFill>
                <a:latin typeface="Calibri"/>
              </a:rPr>
              <a:t>|  Hack</a:t>
            </a:r>
            <a:r>
              <a:rPr lang="en-IN" sz="1400" b="0" i="0" dirty="0">
                <a:solidFill>
                  <a:srgbClr val="7E9BB5"/>
                </a:solidFill>
                <a:latin typeface="Calibri"/>
              </a:rPr>
              <a:t>v</a:t>
            </a:r>
            <a:r>
              <a:rPr sz="1400" b="0" i="0" dirty="0" err="1">
                <a:solidFill>
                  <a:srgbClr val="7E9BB5"/>
                </a:solidFill>
                <a:latin typeface="Calibri"/>
              </a:rPr>
              <a:t>eda</a:t>
            </a:r>
            <a:r>
              <a:rPr sz="1400" b="0" i="0" dirty="0">
                <a:solidFill>
                  <a:srgbClr val="7E9BB5"/>
                </a:solidFill>
                <a:latin typeface="Calibri"/>
              </a:rPr>
              <a:t> Solutions</a:t>
            </a:r>
          </a:p>
        </p:txBody>
      </p:sp>
      <p:sp>
        <p:nvSpPr>
          <p:cNvPr id="11" name="Rectangle 10"/>
          <p:cNvSpPr/>
          <p:nvPr/>
        </p:nvSpPr>
        <p:spPr>
          <a:xfrm>
            <a:off x="9601200" y="1371600"/>
            <a:ext cx="2011680" cy="118872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601200" y="1371600"/>
            <a:ext cx="73152" cy="118872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0" y="1508760"/>
            <a:ext cx="1828800" cy="457200"/>
          </a:xfrm>
          <a:prstGeom prst="rect">
            <a:avLst/>
          </a:prstGeom>
          <a:noFill/>
        </p:spPr>
        <p:txBody>
          <a:bodyPr wrap="square">
            <a:spAutoFit/>
          </a:bodyPr>
          <a:lstStyle/>
          <a:p>
            <a:pPr algn="l"/>
            <a:r>
              <a:rPr sz="2200" b="1" i="0">
                <a:solidFill>
                  <a:srgbClr val="00C9B1"/>
                </a:solidFill>
                <a:latin typeface="Calibri"/>
              </a:rPr>
              <a:t>CALL</a:t>
            </a:r>
          </a:p>
        </p:txBody>
      </p:sp>
      <p:sp>
        <p:nvSpPr>
          <p:cNvPr id="14" name="TextBox 13"/>
          <p:cNvSpPr txBox="1"/>
          <p:nvPr/>
        </p:nvSpPr>
        <p:spPr>
          <a:xfrm>
            <a:off x="9784080" y="1965960"/>
            <a:ext cx="1828800" cy="365760"/>
          </a:xfrm>
          <a:prstGeom prst="rect">
            <a:avLst/>
          </a:prstGeom>
          <a:noFill/>
        </p:spPr>
        <p:txBody>
          <a:bodyPr wrap="square">
            <a:spAutoFit/>
          </a:bodyPr>
          <a:lstStyle/>
          <a:p>
            <a:pPr algn="l"/>
            <a:r>
              <a:rPr sz="1100" b="0" i="0">
                <a:solidFill>
                  <a:srgbClr val="7E9BB5"/>
                </a:solidFill>
                <a:latin typeface="Calibri"/>
              </a:rPr>
              <a:t>Option</a:t>
            </a:r>
          </a:p>
        </p:txBody>
      </p:sp>
      <p:sp>
        <p:nvSpPr>
          <p:cNvPr id="15" name="Rectangle 14"/>
          <p:cNvSpPr/>
          <p:nvPr/>
        </p:nvSpPr>
        <p:spPr>
          <a:xfrm>
            <a:off x="9601200" y="2834640"/>
            <a:ext cx="2011680" cy="118872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601200" y="2834640"/>
            <a:ext cx="73152" cy="1188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84080" y="2971800"/>
            <a:ext cx="1828800" cy="457200"/>
          </a:xfrm>
          <a:prstGeom prst="rect">
            <a:avLst/>
          </a:prstGeom>
          <a:noFill/>
        </p:spPr>
        <p:txBody>
          <a:bodyPr wrap="square">
            <a:spAutoFit/>
          </a:bodyPr>
          <a:lstStyle/>
          <a:p>
            <a:pPr algn="l"/>
            <a:r>
              <a:rPr sz="2200" b="1" i="0">
                <a:solidFill>
                  <a:srgbClr val="F5A623"/>
                </a:solidFill>
                <a:latin typeface="Calibri"/>
              </a:rPr>
              <a:t>PUT</a:t>
            </a:r>
          </a:p>
        </p:txBody>
      </p:sp>
      <p:sp>
        <p:nvSpPr>
          <p:cNvPr id="18" name="TextBox 17"/>
          <p:cNvSpPr txBox="1"/>
          <p:nvPr/>
        </p:nvSpPr>
        <p:spPr>
          <a:xfrm>
            <a:off x="9784080" y="3429000"/>
            <a:ext cx="1828800" cy="365760"/>
          </a:xfrm>
          <a:prstGeom prst="rect">
            <a:avLst/>
          </a:prstGeom>
          <a:noFill/>
        </p:spPr>
        <p:txBody>
          <a:bodyPr wrap="square">
            <a:spAutoFit/>
          </a:bodyPr>
          <a:lstStyle/>
          <a:p>
            <a:pPr algn="l"/>
            <a:r>
              <a:rPr sz="1100" b="0" i="0">
                <a:solidFill>
                  <a:srgbClr val="7E9BB5"/>
                </a:solidFill>
                <a:latin typeface="Calibri"/>
              </a:rPr>
              <a:t>Option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69695-D080-42E4-FE42-C6F983F2DB6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B7168A6-77D3-2F0F-CB6F-E09A525C7592}"/>
              </a:ext>
            </a:extLst>
          </p:cNvPr>
          <p:cNvSpPr/>
          <p:nvPr/>
        </p:nvSpPr>
        <p:spPr>
          <a:xfrm>
            <a:off x="-127"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5435D329-C5F3-17A7-80C1-79A9089418D0}"/>
              </a:ext>
            </a:extLst>
          </p:cNvPr>
          <p:cNvSpPr/>
          <p:nvPr/>
        </p:nvSpPr>
        <p:spPr>
          <a:xfrm>
            <a:off x="0" y="0"/>
            <a:ext cx="274320" cy="68580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AF2888A5-44DA-876A-52F8-CC3B4FF0DFD2}"/>
              </a:ext>
            </a:extLst>
          </p:cNvPr>
          <p:cNvSpPr/>
          <p:nvPr/>
        </p:nvSpPr>
        <p:spPr>
          <a:xfrm>
            <a:off x="1801368" y="1207008"/>
            <a:ext cx="8631936" cy="5486400"/>
          </a:xfrm>
          <a:prstGeom prst="rect">
            <a:avLst/>
          </a:prstGeom>
          <a:solidFill>
            <a:srgbClr val="005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CEE5CF50-7A5E-2CEC-1BDC-AA0998C49928}"/>
              </a:ext>
            </a:extLst>
          </p:cNvPr>
          <p:cNvSpPr/>
          <p:nvPr/>
        </p:nvSpPr>
        <p:spPr>
          <a:xfrm>
            <a:off x="274320" y="996696"/>
            <a:ext cx="4114800" cy="54864"/>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9D21B13C-A90F-AE02-79A0-9E36EE1BCE1D}"/>
              </a:ext>
            </a:extLst>
          </p:cNvPr>
          <p:cNvSpPr txBox="1"/>
          <p:nvPr/>
        </p:nvSpPr>
        <p:spPr>
          <a:xfrm>
            <a:off x="384048" y="310896"/>
            <a:ext cx="2560320" cy="584775"/>
          </a:xfrm>
          <a:prstGeom prst="rect">
            <a:avLst/>
          </a:prstGeom>
          <a:noFill/>
        </p:spPr>
        <p:txBody>
          <a:bodyPr wrap="square" rtlCol="0">
            <a:spAutoFit/>
          </a:bodyPr>
          <a:lstStyle/>
          <a:p>
            <a:r>
              <a:rPr lang="en-IN" sz="3200" b="1" dirty="0">
                <a:solidFill>
                  <a:schemeClr val="bg1">
                    <a:lumMod val="85000"/>
                  </a:schemeClr>
                </a:solidFill>
              </a:rPr>
              <a:t>HOOK STORY</a:t>
            </a:r>
          </a:p>
        </p:txBody>
      </p:sp>
      <p:sp>
        <p:nvSpPr>
          <p:cNvPr id="24" name="TextBox 23">
            <a:extLst>
              <a:ext uri="{FF2B5EF4-FFF2-40B4-BE49-F238E27FC236}">
                <a16:creationId xmlns:a16="http://schemas.microsoft.com/office/drawing/2014/main" id="{221E3785-79EB-B220-A8D5-E2A903518461}"/>
              </a:ext>
            </a:extLst>
          </p:cNvPr>
          <p:cNvSpPr txBox="1"/>
          <p:nvPr/>
        </p:nvSpPr>
        <p:spPr>
          <a:xfrm>
            <a:off x="1901952" y="1371600"/>
            <a:ext cx="8412480" cy="5355312"/>
          </a:xfrm>
          <a:prstGeom prst="rect">
            <a:avLst/>
          </a:prstGeom>
          <a:noFill/>
        </p:spPr>
        <p:txBody>
          <a:bodyPr wrap="square" rtlCol="0">
            <a:spAutoFit/>
          </a:bodyPr>
          <a:lstStyle/>
          <a:p>
            <a:r>
              <a:rPr lang="en-US" dirty="0">
                <a:solidFill>
                  <a:schemeClr val="bg1">
                    <a:lumMod val="85000"/>
                  </a:schemeClr>
                </a:solidFill>
              </a:rPr>
              <a:t>It was a regular Tuesday morning. A retail trader in New York bought 50 call option contracts on a tech stock. The stock price moved exactly in his favor — up 4% by noon. He expected to profit. Instead, his account showed a loss of $47,000. Confused, frustrated, and in shock — he had no idea what just happened. The answer? He didn't understand options pricing. His premium had been eaten alive by time decay, crushed by a sudden drop in implied volatility, and he had completely ignored his Delta exposure. He was trading a financial instrument he didn't truly understand. This story isn't rare. It happens every single day to thousands of traders worldwide who jump into options markets without mastering the one thing that controls everything — how options are priced. Options pricing is not just a formula on paper. It is the language of risk. It is the difference between a calculated trader and a glorified gambler. Understanding how an option gets its value — what makes its price rise, fall, explode, or decay to zero overnight — is the single most powerful edge any day trader can possess. This presentation breaks down that language completely. From the core building blocks of premium, to the mysterious Greeks, to the Nobel Prize-winning Black-Scholes model, to real-world strategies used by professional traders on Wall Street every day. Whether you are just stepping into the world of derivatives or looking to sharpen your edge, what you are about to learn will permanently change how you see the markets. Because in options trading, knowledge is not just power — it is profit.</a:t>
            </a:r>
            <a:endParaRPr lang="en-IN" dirty="0">
              <a:solidFill>
                <a:schemeClr val="bg1">
                  <a:lumMod val="85000"/>
                </a:schemeClr>
              </a:solidFill>
            </a:endParaRPr>
          </a:p>
        </p:txBody>
      </p:sp>
    </p:spTree>
    <p:extLst>
      <p:ext uri="{BB962C8B-B14F-4D97-AF65-F5344CB8AC3E}">
        <p14:creationId xmlns:p14="http://schemas.microsoft.com/office/powerpoint/2010/main" val="1189316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7315200" cy="640080"/>
          </a:xfrm>
          <a:prstGeom prst="rect">
            <a:avLst/>
          </a:prstGeom>
          <a:noFill/>
        </p:spPr>
        <p:txBody>
          <a:bodyPr wrap="square">
            <a:spAutoFit/>
          </a:bodyPr>
          <a:lstStyle/>
          <a:p>
            <a:pPr algn="l"/>
            <a:r>
              <a:rPr sz="3200" b="1" i="0" dirty="0">
                <a:solidFill>
                  <a:srgbClr val="FFFFFF"/>
                </a:solidFill>
                <a:latin typeface="Calibri"/>
              </a:rPr>
              <a:t>AGENDA</a:t>
            </a:r>
          </a:p>
        </p:txBody>
      </p:sp>
      <p:sp>
        <p:nvSpPr>
          <p:cNvPr id="5" name="Rectangle 4"/>
          <p:cNvSpPr/>
          <p:nvPr/>
        </p:nvSpPr>
        <p:spPr>
          <a:xfrm>
            <a:off x="457200" y="960120"/>
            <a:ext cx="1371600" cy="4572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188720"/>
            <a:ext cx="3657600" cy="132588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188720"/>
            <a:ext cx="64008" cy="132588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280160"/>
            <a:ext cx="640080" cy="548640"/>
          </a:xfrm>
          <a:prstGeom prst="rect">
            <a:avLst/>
          </a:prstGeom>
          <a:noFill/>
        </p:spPr>
        <p:txBody>
          <a:bodyPr wrap="square">
            <a:spAutoFit/>
          </a:bodyPr>
          <a:lstStyle/>
          <a:p>
            <a:pPr algn="l"/>
            <a:r>
              <a:rPr sz="2800" b="1" i="0">
                <a:solidFill>
                  <a:srgbClr val="00C9B1"/>
                </a:solidFill>
                <a:latin typeface="Calibri"/>
              </a:rPr>
              <a:t>01</a:t>
            </a:r>
          </a:p>
        </p:txBody>
      </p:sp>
      <p:sp>
        <p:nvSpPr>
          <p:cNvPr id="9" name="TextBox 8"/>
          <p:cNvSpPr txBox="1"/>
          <p:nvPr/>
        </p:nvSpPr>
        <p:spPr>
          <a:xfrm>
            <a:off x="548640" y="1755648"/>
            <a:ext cx="3383280" cy="369332"/>
          </a:xfrm>
          <a:prstGeom prst="rect">
            <a:avLst/>
          </a:prstGeom>
          <a:noFill/>
        </p:spPr>
        <p:txBody>
          <a:bodyPr wrap="square">
            <a:spAutoFit/>
          </a:bodyPr>
          <a:lstStyle/>
          <a:p>
            <a:pPr algn="l"/>
            <a:r>
              <a:rPr b="1" i="0" dirty="0">
                <a:solidFill>
                  <a:srgbClr val="FFFFFF"/>
                </a:solidFill>
                <a:latin typeface="Calibri"/>
              </a:rPr>
              <a:t>What is Options Pricing?</a:t>
            </a:r>
          </a:p>
        </p:txBody>
      </p:sp>
      <p:sp>
        <p:nvSpPr>
          <p:cNvPr id="10" name="TextBox 9"/>
          <p:cNvSpPr txBox="1"/>
          <p:nvPr/>
        </p:nvSpPr>
        <p:spPr>
          <a:xfrm>
            <a:off x="548640" y="2148840"/>
            <a:ext cx="3383280" cy="307777"/>
          </a:xfrm>
          <a:prstGeom prst="rect">
            <a:avLst/>
          </a:prstGeom>
          <a:noFill/>
        </p:spPr>
        <p:txBody>
          <a:bodyPr wrap="square">
            <a:spAutoFit/>
          </a:bodyPr>
          <a:lstStyle/>
          <a:p>
            <a:pPr algn="l"/>
            <a:r>
              <a:rPr lang="en-US" sz="1400" b="0" i="0" dirty="0">
                <a:solidFill>
                  <a:srgbClr val="7E9BB5"/>
                </a:solidFill>
                <a:latin typeface="Calibri"/>
              </a:rPr>
              <a:t>Core concepts, calls &amp; puts, premiums</a:t>
            </a:r>
            <a:endParaRPr sz="1400" b="0" i="0" dirty="0">
              <a:solidFill>
                <a:srgbClr val="7E9BB5"/>
              </a:solidFill>
              <a:latin typeface="Calibri"/>
            </a:endParaRPr>
          </a:p>
        </p:txBody>
      </p:sp>
      <p:sp>
        <p:nvSpPr>
          <p:cNvPr id="11" name="Rectangle 10"/>
          <p:cNvSpPr/>
          <p:nvPr/>
        </p:nvSpPr>
        <p:spPr>
          <a:xfrm>
            <a:off x="365760" y="2788920"/>
            <a:ext cx="3657600" cy="132588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5760" y="2788920"/>
            <a:ext cx="64008" cy="132588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2880360"/>
            <a:ext cx="640080" cy="548640"/>
          </a:xfrm>
          <a:prstGeom prst="rect">
            <a:avLst/>
          </a:prstGeom>
          <a:noFill/>
        </p:spPr>
        <p:txBody>
          <a:bodyPr wrap="square">
            <a:spAutoFit/>
          </a:bodyPr>
          <a:lstStyle/>
          <a:p>
            <a:pPr algn="l"/>
            <a:r>
              <a:rPr sz="2800" b="1" i="0">
                <a:solidFill>
                  <a:srgbClr val="F5A623"/>
                </a:solidFill>
                <a:latin typeface="Calibri"/>
              </a:rPr>
              <a:t>02</a:t>
            </a:r>
          </a:p>
        </p:txBody>
      </p:sp>
      <p:sp>
        <p:nvSpPr>
          <p:cNvPr id="14" name="TextBox 13"/>
          <p:cNvSpPr txBox="1"/>
          <p:nvPr/>
        </p:nvSpPr>
        <p:spPr>
          <a:xfrm>
            <a:off x="548640" y="3355848"/>
            <a:ext cx="3383280" cy="369332"/>
          </a:xfrm>
          <a:prstGeom prst="rect">
            <a:avLst/>
          </a:prstGeom>
          <a:noFill/>
        </p:spPr>
        <p:txBody>
          <a:bodyPr wrap="square">
            <a:spAutoFit/>
          </a:bodyPr>
          <a:lstStyle/>
          <a:p>
            <a:pPr algn="l"/>
            <a:r>
              <a:rPr b="1" i="0" dirty="0">
                <a:solidFill>
                  <a:srgbClr val="FFFFFF"/>
                </a:solidFill>
                <a:latin typeface="Calibri"/>
              </a:rPr>
              <a:t>The Greeks Decoded</a:t>
            </a:r>
          </a:p>
        </p:txBody>
      </p:sp>
      <p:sp>
        <p:nvSpPr>
          <p:cNvPr id="15" name="TextBox 14"/>
          <p:cNvSpPr txBox="1"/>
          <p:nvPr/>
        </p:nvSpPr>
        <p:spPr>
          <a:xfrm>
            <a:off x="548640" y="3749039"/>
            <a:ext cx="3383280" cy="307777"/>
          </a:xfrm>
          <a:prstGeom prst="rect">
            <a:avLst/>
          </a:prstGeom>
          <a:noFill/>
        </p:spPr>
        <p:txBody>
          <a:bodyPr wrap="square">
            <a:spAutoFit/>
          </a:bodyPr>
          <a:lstStyle/>
          <a:p>
            <a:pPr algn="l"/>
            <a:r>
              <a:rPr sz="1400" b="0" i="0" dirty="0">
                <a:solidFill>
                  <a:srgbClr val="7E9BB5"/>
                </a:solidFill>
                <a:latin typeface="Calibri"/>
              </a:rPr>
              <a:t>Delta, Gamma, Theta, Vega, Rho</a:t>
            </a:r>
          </a:p>
        </p:txBody>
      </p:sp>
      <p:sp>
        <p:nvSpPr>
          <p:cNvPr id="16" name="Rectangle 15"/>
          <p:cNvSpPr/>
          <p:nvPr/>
        </p:nvSpPr>
        <p:spPr>
          <a:xfrm>
            <a:off x="365760" y="4389120"/>
            <a:ext cx="3657600" cy="132588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5760" y="4389120"/>
            <a:ext cx="64008" cy="1325880"/>
          </a:xfrm>
          <a:prstGeom prst="rect">
            <a:avLst/>
          </a:prstGeom>
          <a:solidFill>
            <a:srgbClr val="64B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4480559"/>
            <a:ext cx="640080" cy="548640"/>
          </a:xfrm>
          <a:prstGeom prst="rect">
            <a:avLst/>
          </a:prstGeom>
          <a:noFill/>
        </p:spPr>
        <p:txBody>
          <a:bodyPr wrap="square">
            <a:spAutoFit/>
          </a:bodyPr>
          <a:lstStyle/>
          <a:p>
            <a:pPr algn="l"/>
            <a:r>
              <a:rPr sz="2800" b="1" i="0">
                <a:solidFill>
                  <a:srgbClr val="64B4F0"/>
                </a:solidFill>
                <a:latin typeface="Calibri"/>
              </a:rPr>
              <a:t>03</a:t>
            </a:r>
          </a:p>
        </p:txBody>
      </p:sp>
      <p:sp>
        <p:nvSpPr>
          <p:cNvPr id="19" name="TextBox 18"/>
          <p:cNvSpPr txBox="1"/>
          <p:nvPr/>
        </p:nvSpPr>
        <p:spPr>
          <a:xfrm>
            <a:off x="548640" y="4956048"/>
            <a:ext cx="3383280" cy="369332"/>
          </a:xfrm>
          <a:prstGeom prst="rect">
            <a:avLst/>
          </a:prstGeom>
          <a:noFill/>
        </p:spPr>
        <p:txBody>
          <a:bodyPr wrap="square">
            <a:spAutoFit/>
          </a:bodyPr>
          <a:lstStyle/>
          <a:p>
            <a:pPr algn="l"/>
            <a:r>
              <a:rPr b="1" i="0" dirty="0">
                <a:solidFill>
                  <a:srgbClr val="FFFFFF"/>
                </a:solidFill>
                <a:latin typeface="Calibri"/>
              </a:rPr>
              <a:t>Black-Scholes Model</a:t>
            </a:r>
          </a:p>
        </p:txBody>
      </p:sp>
      <p:sp>
        <p:nvSpPr>
          <p:cNvPr id="20" name="TextBox 19"/>
          <p:cNvSpPr txBox="1"/>
          <p:nvPr/>
        </p:nvSpPr>
        <p:spPr>
          <a:xfrm>
            <a:off x="548640" y="5349240"/>
            <a:ext cx="3383280" cy="307777"/>
          </a:xfrm>
          <a:prstGeom prst="rect">
            <a:avLst/>
          </a:prstGeom>
          <a:noFill/>
        </p:spPr>
        <p:txBody>
          <a:bodyPr wrap="square">
            <a:spAutoFit/>
          </a:bodyPr>
          <a:lstStyle/>
          <a:p>
            <a:pPr algn="l"/>
            <a:r>
              <a:rPr sz="1400" b="0" i="0" dirty="0">
                <a:solidFill>
                  <a:srgbClr val="7E9BB5"/>
                </a:solidFill>
                <a:latin typeface="Calibri"/>
              </a:rPr>
              <a:t>The formula powering modern pricing</a:t>
            </a:r>
          </a:p>
        </p:txBody>
      </p:sp>
      <p:sp>
        <p:nvSpPr>
          <p:cNvPr id="21" name="Rectangle 20"/>
          <p:cNvSpPr/>
          <p:nvPr/>
        </p:nvSpPr>
        <p:spPr>
          <a:xfrm>
            <a:off x="6400800" y="1188720"/>
            <a:ext cx="3657600" cy="132588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400800" y="1188720"/>
            <a:ext cx="64008" cy="1325880"/>
          </a:xfrm>
          <a:prstGeom prst="rect">
            <a:avLst/>
          </a:prstGeom>
          <a:solidFill>
            <a:srgbClr val="C86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0" y="1280160"/>
            <a:ext cx="640080" cy="548640"/>
          </a:xfrm>
          <a:prstGeom prst="rect">
            <a:avLst/>
          </a:prstGeom>
          <a:noFill/>
        </p:spPr>
        <p:txBody>
          <a:bodyPr wrap="square">
            <a:spAutoFit/>
          </a:bodyPr>
          <a:lstStyle/>
          <a:p>
            <a:pPr algn="l"/>
            <a:r>
              <a:rPr sz="2800" b="1" i="0">
                <a:solidFill>
                  <a:srgbClr val="C864C8"/>
                </a:solidFill>
                <a:latin typeface="Calibri"/>
              </a:rPr>
              <a:t>04</a:t>
            </a:r>
          </a:p>
        </p:txBody>
      </p:sp>
      <p:sp>
        <p:nvSpPr>
          <p:cNvPr id="24" name="TextBox 23"/>
          <p:cNvSpPr txBox="1"/>
          <p:nvPr/>
        </p:nvSpPr>
        <p:spPr>
          <a:xfrm>
            <a:off x="6583680" y="1755648"/>
            <a:ext cx="3383280" cy="369332"/>
          </a:xfrm>
          <a:prstGeom prst="rect">
            <a:avLst/>
          </a:prstGeom>
          <a:noFill/>
        </p:spPr>
        <p:txBody>
          <a:bodyPr wrap="square">
            <a:spAutoFit/>
          </a:bodyPr>
          <a:lstStyle/>
          <a:p>
            <a:pPr algn="l"/>
            <a:r>
              <a:rPr b="1" i="0" dirty="0">
                <a:solidFill>
                  <a:srgbClr val="FFFFFF"/>
                </a:solidFill>
                <a:latin typeface="Calibri"/>
              </a:rPr>
              <a:t>Implied vs Historical Vol</a:t>
            </a:r>
          </a:p>
        </p:txBody>
      </p:sp>
      <p:sp>
        <p:nvSpPr>
          <p:cNvPr id="25" name="TextBox 24"/>
          <p:cNvSpPr txBox="1"/>
          <p:nvPr/>
        </p:nvSpPr>
        <p:spPr>
          <a:xfrm>
            <a:off x="6583680" y="2148840"/>
            <a:ext cx="3383280" cy="307777"/>
          </a:xfrm>
          <a:prstGeom prst="rect">
            <a:avLst/>
          </a:prstGeom>
          <a:noFill/>
        </p:spPr>
        <p:txBody>
          <a:bodyPr wrap="square">
            <a:spAutoFit/>
          </a:bodyPr>
          <a:lstStyle/>
          <a:p>
            <a:pPr algn="l"/>
            <a:r>
              <a:rPr sz="1400" b="0" i="0" dirty="0">
                <a:solidFill>
                  <a:srgbClr val="7E9BB5"/>
                </a:solidFill>
                <a:latin typeface="Calibri"/>
              </a:rPr>
              <a:t>Reading the market's crystal ball</a:t>
            </a:r>
          </a:p>
        </p:txBody>
      </p:sp>
      <p:sp>
        <p:nvSpPr>
          <p:cNvPr id="26" name="Rectangle 25"/>
          <p:cNvSpPr/>
          <p:nvPr/>
        </p:nvSpPr>
        <p:spPr>
          <a:xfrm>
            <a:off x="6400800" y="2788920"/>
            <a:ext cx="3657600" cy="132588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400800" y="2788920"/>
            <a:ext cx="64008" cy="1325880"/>
          </a:xfrm>
          <a:prstGeom prst="rect">
            <a:avLst/>
          </a:prstGeom>
          <a:solidFill>
            <a:srgbClr val="64D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83680" y="2880360"/>
            <a:ext cx="640080" cy="548640"/>
          </a:xfrm>
          <a:prstGeom prst="rect">
            <a:avLst/>
          </a:prstGeom>
          <a:noFill/>
        </p:spPr>
        <p:txBody>
          <a:bodyPr wrap="square">
            <a:spAutoFit/>
          </a:bodyPr>
          <a:lstStyle/>
          <a:p>
            <a:pPr algn="l"/>
            <a:r>
              <a:rPr sz="2800" b="1" i="0">
                <a:solidFill>
                  <a:srgbClr val="64DC96"/>
                </a:solidFill>
                <a:latin typeface="Calibri"/>
              </a:rPr>
              <a:t>05</a:t>
            </a:r>
          </a:p>
        </p:txBody>
      </p:sp>
      <p:sp>
        <p:nvSpPr>
          <p:cNvPr id="29" name="TextBox 28"/>
          <p:cNvSpPr txBox="1"/>
          <p:nvPr/>
        </p:nvSpPr>
        <p:spPr>
          <a:xfrm>
            <a:off x="6583680" y="3355848"/>
            <a:ext cx="3383280" cy="369332"/>
          </a:xfrm>
          <a:prstGeom prst="rect">
            <a:avLst/>
          </a:prstGeom>
          <a:noFill/>
        </p:spPr>
        <p:txBody>
          <a:bodyPr wrap="square">
            <a:spAutoFit/>
          </a:bodyPr>
          <a:lstStyle/>
          <a:p>
            <a:pPr algn="l"/>
            <a:r>
              <a:rPr b="1" i="0" dirty="0">
                <a:solidFill>
                  <a:srgbClr val="FFFFFF"/>
                </a:solidFill>
                <a:latin typeface="Calibri"/>
              </a:rPr>
              <a:t>Trading Strategies</a:t>
            </a:r>
          </a:p>
        </p:txBody>
      </p:sp>
      <p:sp>
        <p:nvSpPr>
          <p:cNvPr id="30" name="TextBox 29"/>
          <p:cNvSpPr txBox="1"/>
          <p:nvPr/>
        </p:nvSpPr>
        <p:spPr>
          <a:xfrm>
            <a:off x="6583680" y="3749039"/>
            <a:ext cx="3383280" cy="307777"/>
          </a:xfrm>
          <a:prstGeom prst="rect">
            <a:avLst/>
          </a:prstGeom>
          <a:noFill/>
        </p:spPr>
        <p:txBody>
          <a:bodyPr wrap="square">
            <a:spAutoFit/>
          </a:bodyPr>
          <a:lstStyle/>
          <a:p>
            <a:pPr algn="l"/>
            <a:r>
              <a:rPr sz="1400" b="0" i="0" dirty="0">
                <a:solidFill>
                  <a:srgbClr val="7E9BB5"/>
                </a:solidFill>
                <a:latin typeface="Calibri"/>
              </a:rPr>
              <a:t>Scalping, spreads, long calls &amp; puts</a:t>
            </a:r>
          </a:p>
        </p:txBody>
      </p:sp>
      <p:sp>
        <p:nvSpPr>
          <p:cNvPr id="31" name="Rectangle 30"/>
          <p:cNvSpPr/>
          <p:nvPr/>
        </p:nvSpPr>
        <p:spPr>
          <a:xfrm>
            <a:off x="6400800" y="4389120"/>
            <a:ext cx="3657600" cy="132588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400800" y="4389120"/>
            <a:ext cx="64008" cy="1325880"/>
          </a:xfrm>
          <a:prstGeom prst="rect">
            <a:avLst/>
          </a:prstGeom>
          <a:solidFill>
            <a:srgbClr val="F08C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583680" y="4480559"/>
            <a:ext cx="640080" cy="548640"/>
          </a:xfrm>
          <a:prstGeom prst="rect">
            <a:avLst/>
          </a:prstGeom>
          <a:noFill/>
        </p:spPr>
        <p:txBody>
          <a:bodyPr wrap="square">
            <a:spAutoFit/>
          </a:bodyPr>
          <a:lstStyle/>
          <a:p>
            <a:pPr algn="l"/>
            <a:r>
              <a:rPr sz="2800" b="1" i="0">
                <a:solidFill>
                  <a:srgbClr val="F08C50"/>
                </a:solidFill>
                <a:latin typeface="Calibri"/>
              </a:rPr>
              <a:t>06</a:t>
            </a:r>
          </a:p>
        </p:txBody>
      </p:sp>
      <p:sp>
        <p:nvSpPr>
          <p:cNvPr id="34" name="TextBox 33"/>
          <p:cNvSpPr txBox="1"/>
          <p:nvPr/>
        </p:nvSpPr>
        <p:spPr>
          <a:xfrm>
            <a:off x="6583680" y="4956048"/>
            <a:ext cx="3383280" cy="369332"/>
          </a:xfrm>
          <a:prstGeom prst="rect">
            <a:avLst/>
          </a:prstGeom>
          <a:noFill/>
        </p:spPr>
        <p:txBody>
          <a:bodyPr wrap="square">
            <a:spAutoFit/>
          </a:bodyPr>
          <a:lstStyle/>
          <a:p>
            <a:pPr algn="l"/>
            <a:r>
              <a:rPr b="1" i="0" dirty="0">
                <a:solidFill>
                  <a:srgbClr val="FFFFFF"/>
                </a:solidFill>
                <a:latin typeface="Calibri"/>
              </a:rPr>
              <a:t>Risk Management</a:t>
            </a:r>
          </a:p>
        </p:txBody>
      </p:sp>
      <p:sp>
        <p:nvSpPr>
          <p:cNvPr id="35" name="TextBox 34"/>
          <p:cNvSpPr txBox="1"/>
          <p:nvPr/>
        </p:nvSpPr>
        <p:spPr>
          <a:xfrm>
            <a:off x="6583680" y="5349240"/>
            <a:ext cx="3383280" cy="307777"/>
          </a:xfrm>
          <a:prstGeom prst="rect">
            <a:avLst/>
          </a:prstGeom>
          <a:noFill/>
        </p:spPr>
        <p:txBody>
          <a:bodyPr wrap="square">
            <a:spAutoFit/>
          </a:bodyPr>
          <a:lstStyle/>
          <a:p>
            <a:pPr algn="l"/>
            <a:r>
              <a:rPr sz="1400" b="0" i="0" dirty="0">
                <a:solidFill>
                  <a:srgbClr val="7E9BB5"/>
                </a:solidFill>
                <a:latin typeface="Calibri"/>
              </a:rPr>
              <a:t>Stop-loss, hedging &amp; discipline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9144000" cy="640080"/>
          </a:xfrm>
          <a:prstGeom prst="rect">
            <a:avLst/>
          </a:prstGeom>
          <a:noFill/>
        </p:spPr>
        <p:txBody>
          <a:bodyPr wrap="square">
            <a:spAutoFit/>
          </a:bodyPr>
          <a:lstStyle/>
          <a:p>
            <a:pPr algn="l"/>
            <a:r>
              <a:rPr sz="2800" b="1" i="0">
                <a:solidFill>
                  <a:srgbClr val="FFFFFF"/>
                </a:solidFill>
                <a:latin typeface="Calibri"/>
              </a:rPr>
              <a:t>WHAT IS OPTIONS PRICING?</a:t>
            </a:r>
          </a:p>
        </p:txBody>
      </p:sp>
      <p:sp>
        <p:nvSpPr>
          <p:cNvPr id="5" name="Rectangle 4"/>
          <p:cNvSpPr/>
          <p:nvPr/>
        </p:nvSpPr>
        <p:spPr>
          <a:xfrm>
            <a:off x="457200" y="960120"/>
            <a:ext cx="2286000" cy="4572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143000"/>
            <a:ext cx="5943600" cy="1097280"/>
          </a:xfrm>
          <a:prstGeom prst="rect">
            <a:avLst/>
          </a:prstGeom>
          <a:noFill/>
        </p:spPr>
        <p:txBody>
          <a:bodyPr wrap="square">
            <a:spAutoFit/>
          </a:bodyPr>
          <a:lstStyle/>
          <a:p>
            <a:pPr algn="l"/>
            <a:r>
              <a:rPr sz="1400" b="0" i="0" dirty="0">
                <a:solidFill>
                  <a:srgbClr val="CCE5FF"/>
                </a:solidFill>
                <a:latin typeface="Calibri"/>
              </a:rPr>
              <a:t>Options are financial derivatives giving the holder the right — not the obligation — to buy or sell an asset at a predetermined strike price before expiration.</a:t>
            </a:r>
          </a:p>
        </p:txBody>
      </p:sp>
      <p:sp>
        <p:nvSpPr>
          <p:cNvPr id="7" name="Rectangle 6"/>
          <p:cNvSpPr/>
          <p:nvPr/>
        </p:nvSpPr>
        <p:spPr>
          <a:xfrm>
            <a:off x="457200" y="2377440"/>
            <a:ext cx="2743200" cy="192024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2377440"/>
            <a:ext cx="2743200" cy="9144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2514600"/>
            <a:ext cx="2468880" cy="369332"/>
          </a:xfrm>
          <a:prstGeom prst="rect">
            <a:avLst/>
          </a:prstGeom>
          <a:noFill/>
        </p:spPr>
        <p:txBody>
          <a:bodyPr wrap="square">
            <a:spAutoFit/>
          </a:bodyPr>
          <a:lstStyle/>
          <a:p>
            <a:pPr algn="l"/>
            <a:r>
              <a:rPr b="1" i="0" dirty="0">
                <a:solidFill>
                  <a:srgbClr val="00C9B1"/>
                </a:solidFill>
                <a:latin typeface="Calibri"/>
              </a:rPr>
              <a:t>CALL OPTION</a:t>
            </a:r>
          </a:p>
        </p:txBody>
      </p:sp>
      <p:sp>
        <p:nvSpPr>
          <p:cNvPr id="10" name="TextBox 9"/>
          <p:cNvSpPr txBox="1"/>
          <p:nvPr/>
        </p:nvSpPr>
        <p:spPr>
          <a:xfrm>
            <a:off x="594360" y="3017520"/>
            <a:ext cx="2468880" cy="1097280"/>
          </a:xfrm>
          <a:prstGeom prst="rect">
            <a:avLst/>
          </a:prstGeom>
          <a:noFill/>
        </p:spPr>
        <p:txBody>
          <a:bodyPr wrap="square">
            <a:spAutoFit/>
          </a:bodyPr>
          <a:lstStyle/>
          <a:p>
            <a:pPr algn="l"/>
            <a:r>
              <a:rPr sz="1200" b="0" i="0" dirty="0">
                <a:solidFill>
                  <a:srgbClr val="CCE5FF"/>
                </a:solidFill>
                <a:latin typeface="Calibri"/>
              </a:rPr>
              <a:t>Right to BUY the underlying asset.
Profits when price RISES above strike.</a:t>
            </a:r>
          </a:p>
        </p:txBody>
      </p:sp>
      <p:sp>
        <p:nvSpPr>
          <p:cNvPr id="11" name="Rectangle 10"/>
          <p:cNvSpPr/>
          <p:nvPr/>
        </p:nvSpPr>
        <p:spPr>
          <a:xfrm>
            <a:off x="3566160" y="2377440"/>
            <a:ext cx="2743200" cy="192024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566160" y="2377440"/>
            <a:ext cx="2743200" cy="914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03320" y="2514600"/>
            <a:ext cx="2468880" cy="369332"/>
          </a:xfrm>
          <a:prstGeom prst="rect">
            <a:avLst/>
          </a:prstGeom>
          <a:noFill/>
        </p:spPr>
        <p:txBody>
          <a:bodyPr wrap="square">
            <a:spAutoFit/>
          </a:bodyPr>
          <a:lstStyle/>
          <a:p>
            <a:pPr algn="l"/>
            <a:r>
              <a:rPr b="1" i="0" dirty="0">
                <a:solidFill>
                  <a:srgbClr val="F5A623"/>
                </a:solidFill>
                <a:latin typeface="Calibri"/>
              </a:rPr>
              <a:t>PUT OPTION</a:t>
            </a:r>
          </a:p>
        </p:txBody>
      </p:sp>
      <p:sp>
        <p:nvSpPr>
          <p:cNvPr id="14" name="TextBox 13"/>
          <p:cNvSpPr txBox="1"/>
          <p:nvPr/>
        </p:nvSpPr>
        <p:spPr>
          <a:xfrm>
            <a:off x="3703320" y="3017520"/>
            <a:ext cx="2468880" cy="1097280"/>
          </a:xfrm>
          <a:prstGeom prst="rect">
            <a:avLst/>
          </a:prstGeom>
          <a:noFill/>
        </p:spPr>
        <p:txBody>
          <a:bodyPr wrap="square">
            <a:spAutoFit/>
          </a:bodyPr>
          <a:lstStyle/>
          <a:p>
            <a:pPr algn="l"/>
            <a:r>
              <a:rPr sz="1200" b="0" i="0">
                <a:solidFill>
                  <a:srgbClr val="CCE5FF"/>
                </a:solidFill>
                <a:latin typeface="Calibri"/>
              </a:rPr>
              <a:t>Right to SELL the underlying asset.
Profits when price FALLS below strike.</a:t>
            </a:r>
          </a:p>
        </p:txBody>
      </p:sp>
      <p:sp>
        <p:nvSpPr>
          <p:cNvPr id="15" name="TextBox 14"/>
          <p:cNvSpPr txBox="1"/>
          <p:nvPr/>
        </p:nvSpPr>
        <p:spPr>
          <a:xfrm>
            <a:off x="6675120" y="1143000"/>
            <a:ext cx="5029200" cy="369332"/>
          </a:xfrm>
          <a:prstGeom prst="rect">
            <a:avLst/>
          </a:prstGeom>
          <a:noFill/>
        </p:spPr>
        <p:txBody>
          <a:bodyPr wrap="square">
            <a:spAutoFit/>
          </a:bodyPr>
          <a:lstStyle/>
          <a:p>
            <a:pPr algn="l"/>
            <a:r>
              <a:rPr b="1" i="0" dirty="0">
                <a:solidFill>
                  <a:srgbClr val="00C9B1"/>
                </a:solidFill>
                <a:latin typeface="Calibri"/>
              </a:rPr>
              <a:t>PREMIUM IS INFLUENCED BY:</a:t>
            </a:r>
          </a:p>
        </p:txBody>
      </p:sp>
      <p:sp>
        <p:nvSpPr>
          <p:cNvPr id="16" name="Rectangle 15"/>
          <p:cNvSpPr/>
          <p:nvPr/>
        </p:nvSpPr>
        <p:spPr>
          <a:xfrm>
            <a:off x="6675120" y="1645920"/>
            <a:ext cx="5029200" cy="68580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0" y="1691640"/>
            <a:ext cx="4754880" cy="338554"/>
          </a:xfrm>
          <a:prstGeom prst="rect">
            <a:avLst/>
          </a:prstGeom>
          <a:noFill/>
        </p:spPr>
        <p:txBody>
          <a:bodyPr wrap="square">
            <a:spAutoFit/>
          </a:bodyPr>
          <a:lstStyle/>
          <a:p>
            <a:pPr algn="l"/>
            <a:r>
              <a:rPr sz="1600" b="0" i="0" dirty="0">
                <a:solidFill>
                  <a:srgbClr val="CCE5FF"/>
                </a:solidFill>
                <a:latin typeface="Calibri"/>
              </a:rPr>
              <a:t>📈  Underlying Asset Price</a:t>
            </a:r>
          </a:p>
        </p:txBody>
      </p:sp>
      <p:sp>
        <p:nvSpPr>
          <p:cNvPr id="18" name="Rectangle 17"/>
          <p:cNvSpPr/>
          <p:nvPr/>
        </p:nvSpPr>
        <p:spPr>
          <a:xfrm>
            <a:off x="6675120" y="2468880"/>
            <a:ext cx="5029200" cy="68580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0" y="2514600"/>
            <a:ext cx="4754880" cy="338554"/>
          </a:xfrm>
          <a:prstGeom prst="rect">
            <a:avLst/>
          </a:prstGeom>
          <a:noFill/>
        </p:spPr>
        <p:txBody>
          <a:bodyPr wrap="square">
            <a:spAutoFit/>
          </a:bodyPr>
          <a:lstStyle/>
          <a:p>
            <a:pPr algn="l"/>
            <a:r>
              <a:rPr sz="1600" b="0" i="0" dirty="0">
                <a:solidFill>
                  <a:srgbClr val="CCE5FF"/>
                </a:solidFill>
                <a:latin typeface="Calibri"/>
              </a:rPr>
              <a:t>🎯  Strike Price Distance</a:t>
            </a:r>
          </a:p>
        </p:txBody>
      </p:sp>
      <p:sp>
        <p:nvSpPr>
          <p:cNvPr id="20" name="Rectangle 19"/>
          <p:cNvSpPr/>
          <p:nvPr/>
        </p:nvSpPr>
        <p:spPr>
          <a:xfrm>
            <a:off x="6675120" y="3291840"/>
            <a:ext cx="5029200" cy="68580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0" y="3337560"/>
            <a:ext cx="4754880" cy="338554"/>
          </a:xfrm>
          <a:prstGeom prst="rect">
            <a:avLst/>
          </a:prstGeom>
          <a:noFill/>
        </p:spPr>
        <p:txBody>
          <a:bodyPr wrap="square">
            <a:spAutoFit/>
          </a:bodyPr>
          <a:lstStyle/>
          <a:p>
            <a:pPr algn="l"/>
            <a:r>
              <a:rPr lang="en-IN" sz="1600" b="0" i="0" dirty="0">
                <a:solidFill>
                  <a:srgbClr val="CCE5FF"/>
                </a:solidFill>
                <a:latin typeface="Calibri"/>
              </a:rPr>
              <a:t>⏱️  Time to Expiration</a:t>
            </a:r>
            <a:endParaRPr sz="1600" b="0" i="0" dirty="0">
              <a:solidFill>
                <a:srgbClr val="CCE5FF"/>
              </a:solidFill>
              <a:latin typeface="Calibri"/>
            </a:endParaRPr>
          </a:p>
        </p:txBody>
      </p:sp>
      <p:sp>
        <p:nvSpPr>
          <p:cNvPr id="22" name="Rectangle 21"/>
          <p:cNvSpPr/>
          <p:nvPr/>
        </p:nvSpPr>
        <p:spPr>
          <a:xfrm>
            <a:off x="6675120" y="4114800"/>
            <a:ext cx="5029200" cy="68580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0" y="4160520"/>
            <a:ext cx="4754880" cy="338554"/>
          </a:xfrm>
          <a:prstGeom prst="rect">
            <a:avLst/>
          </a:prstGeom>
          <a:noFill/>
        </p:spPr>
        <p:txBody>
          <a:bodyPr wrap="square">
            <a:spAutoFit/>
          </a:bodyPr>
          <a:lstStyle/>
          <a:p>
            <a:pPr algn="l"/>
            <a:r>
              <a:rPr sz="1600" b="0" i="0" dirty="0">
                <a:solidFill>
                  <a:srgbClr val="CCE5FF"/>
                </a:solidFill>
                <a:latin typeface="Calibri"/>
              </a:rPr>
              <a:t>📊  Implied Volatility</a:t>
            </a:r>
          </a:p>
        </p:txBody>
      </p:sp>
      <p:sp>
        <p:nvSpPr>
          <p:cNvPr id="24" name="Rectangle 23"/>
          <p:cNvSpPr/>
          <p:nvPr/>
        </p:nvSpPr>
        <p:spPr>
          <a:xfrm>
            <a:off x="6675120" y="4937760"/>
            <a:ext cx="5029200" cy="68580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58000" y="4983480"/>
            <a:ext cx="4754880" cy="338554"/>
          </a:xfrm>
          <a:prstGeom prst="rect">
            <a:avLst/>
          </a:prstGeom>
          <a:noFill/>
        </p:spPr>
        <p:txBody>
          <a:bodyPr wrap="square">
            <a:spAutoFit/>
          </a:bodyPr>
          <a:lstStyle/>
          <a:p>
            <a:pPr algn="l"/>
            <a:r>
              <a:rPr sz="1600" b="0" i="0" dirty="0">
                <a:solidFill>
                  <a:srgbClr val="CCE5FF"/>
                </a:solidFill>
                <a:latin typeface="Calibri"/>
              </a:rPr>
              <a:t>💹  Interest Rates &amp; Dividends</a:t>
            </a:r>
          </a:p>
        </p:txBody>
      </p:sp>
      <p:sp>
        <p:nvSpPr>
          <p:cNvPr id="26" name="Rectangle 25"/>
          <p:cNvSpPr/>
          <p:nvPr/>
        </p:nvSpPr>
        <p:spPr>
          <a:xfrm>
            <a:off x="457200" y="4434840"/>
            <a:ext cx="5943600" cy="173736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4572000"/>
            <a:ext cx="5577840" cy="400110"/>
          </a:xfrm>
          <a:prstGeom prst="rect">
            <a:avLst/>
          </a:prstGeom>
          <a:noFill/>
        </p:spPr>
        <p:txBody>
          <a:bodyPr wrap="square">
            <a:spAutoFit/>
          </a:bodyPr>
          <a:lstStyle/>
          <a:p>
            <a:pPr algn="l"/>
            <a:r>
              <a:rPr sz="2000" b="1" i="0" dirty="0">
                <a:solidFill>
                  <a:srgbClr val="00C9B1"/>
                </a:solidFill>
                <a:latin typeface="Calibri"/>
              </a:rPr>
              <a:t>PREMIUM = Intrinsic Value  +  Time Value</a:t>
            </a:r>
          </a:p>
        </p:txBody>
      </p:sp>
      <p:sp>
        <p:nvSpPr>
          <p:cNvPr id="28" name="TextBox 27"/>
          <p:cNvSpPr txBox="1"/>
          <p:nvPr/>
        </p:nvSpPr>
        <p:spPr>
          <a:xfrm>
            <a:off x="640080" y="5029200"/>
            <a:ext cx="5577840" cy="338554"/>
          </a:xfrm>
          <a:prstGeom prst="rect">
            <a:avLst/>
          </a:prstGeom>
          <a:noFill/>
        </p:spPr>
        <p:txBody>
          <a:bodyPr wrap="square">
            <a:spAutoFit/>
          </a:bodyPr>
          <a:lstStyle/>
          <a:p>
            <a:pPr algn="l"/>
            <a:r>
              <a:rPr sz="1600" b="0" i="0" dirty="0">
                <a:solidFill>
                  <a:srgbClr val="CCE5FF"/>
                </a:solidFill>
                <a:latin typeface="Calibri"/>
              </a:rPr>
              <a:t>Intrinsic Value: </a:t>
            </a:r>
            <a:r>
              <a:rPr sz="1200" b="0" i="0" dirty="0">
                <a:solidFill>
                  <a:srgbClr val="CCE5FF"/>
                </a:solidFill>
                <a:latin typeface="Calibri"/>
              </a:rPr>
              <a:t>How much in-the-money the option currently is.</a:t>
            </a:r>
          </a:p>
        </p:txBody>
      </p:sp>
      <p:sp>
        <p:nvSpPr>
          <p:cNvPr id="29" name="TextBox 28"/>
          <p:cNvSpPr txBox="1"/>
          <p:nvPr/>
        </p:nvSpPr>
        <p:spPr>
          <a:xfrm>
            <a:off x="640080" y="5440680"/>
            <a:ext cx="5577840" cy="338554"/>
          </a:xfrm>
          <a:prstGeom prst="rect">
            <a:avLst/>
          </a:prstGeom>
          <a:noFill/>
        </p:spPr>
        <p:txBody>
          <a:bodyPr wrap="square">
            <a:spAutoFit/>
          </a:bodyPr>
          <a:lstStyle/>
          <a:p>
            <a:pPr algn="l"/>
            <a:r>
              <a:rPr sz="1600" b="0" i="0" dirty="0">
                <a:solidFill>
                  <a:srgbClr val="CCE5FF"/>
                </a:solidFill>
                <a:latin typeface="Calibri"/>
              </a:rPr>
              <a:t>Time Value</a:t>
            </a:r>
            <a:r>
              <a:rPr sz="1200" b="0" i="0" dirty="0">
                <a:solidFill>
                  <a:srgbClr val="CCE5FF"/>
                </a:solidFill>
                <a:latin typeface="Calibri"/>
              </a:rPr>
              <a:t>: Extra premium paid for the possibility of future profit.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9144000" cy="640080"/>
          </a:xfrm>
          <a:prstGeom prst="rect">
            <a:avLst/>
          </a:prstGeom>
          <a:noFill/>
        </p:spPr>
        <p:txBody>
          <a:bodyPr wrap="square">
            <a:spAutoFit/>
          </a:bodyPr>
          <a:lstStyle/>
          <a:p>
            <a:pPr algn="l"/>
            <a:r>
              <a:rPr sz="2800" b="1" i="0">
                <a:solidFill>
                  <a:srgbClr val="FFFFFF"/>
                </a:solidFill>
                <a:latin typeface="Calibri"/>
              </a:rPr>
              <a:t>THE OPTIONS GREEKS</a:t>
            </a:r>
          </a:p>
        </p:txBody>
      </p:sp>
      <p:sp>
        <p:nvSpPr>
          <p:cNvPr id="5" name="Rectangle 4"/>
          <p:cNvSpPr/>
          <p:nvPr/>
        </p:nvSpPr>
        <p:spPr>
          <a:xfrm>
            <a:off x="457200" y="960120"/>
            <a:ext cx="1828800" cy="4572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143000"/>
            <a:ext cx="3657600" cy="237744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143000"/>
            <a:ext cx="3657600" cy="73152"/>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280160"/>
            <a:ext cx="3383280" cy="477054"/>
          </a:xfrm>
          <a:prstGeom prst="rect">
            <a:avLst/>
          </a:prstGeom>
          <a:noFill/>
        </p:spPr>
        <p:txBody>
          <a:bodyPr wrap="square">
            <a:spAutoFit/>
          </a:bodyPr>
          <a:lstStyle/>
          <a:p>
            <a:pPr algn="l"/>
            <a:r>
              <a:rPr sz="2500" b="1" i="0" dirty="0">
                <a:solidFill>
                  <a:srgbClr val="00C9B1"/>
                </a:solidFill>
                <a:latin typeface="Calibri"/>
              </a:rPr>
              <a:t>Δ  Delta</a:t>
            </a:r>
          </a:p>
        </p:txBody>
      </p:sp>
      <p:sp>
        <p:nvSpPr>
          <p:cNvPr id="9" name="TextBox 8"/>
          <p:cNvSpPr txBox="1"/>
          <p:nvPr/>
        </p:nvSpPr>
        <p:spPr>
          <a:xfrm>
            <a:off x="594360" y="1783080"/>
            <a:ext cx="3383280" cy="365760"/>
          </a:xfrm>
          <a:prstGeom prst="rect">
            <a:avLst/>
          </a:prstGeom>
          <a:noFill/>
        </p:spPr>
        <p:txBody>
          <a:bodyPr wrap="square">
            <a:spAutoFit/>
          </a:bodyPr>
          <a:lstStyle/>
          <a:p>
            <a:pPr algn="l"/>
            <a:r>
              <a:rPr b="1" i="0" dirty="0">
                <a:solidFill>
                  <a:srgbClr val="F5A623"/>
                </a:solidFill>
                <a:latin typeface="Calibri"/>
              </a:rPr>
              <a:t>Price Sensitivity</a:t>
            </a:r>
          </a:p>
        </p:txBody>
      </p:sp>
      <p:sp>
        <p:nvSpPr>
          <p:cNvPr id="10" name="TextBox 9"/>
          <p:cNvSpPr txBox="1"/>
          <p:nvPr/>
        </p:nvSpPr>
        <p:spPr>
          <a:xfrm>
            <a:off x="594360" y="2148840"/>
            <a:ext cx="3383280" cy="1323439"/>
          </a:xfrm>
          <a:prstGeom prst="rect">
            <a:avLst/>
          </a:prstGeom>
          <a:noFill/>
        </p:spPr>
        <p:txBody>
          <a:bodyPr wrap="square">
            <a:spAutoFit/>
          </a:bodyPr>
          <a:lstStyle/>
          <a:p>
            <a:pPr algn="l"/>
            <a:r>
              <a:rPr sz="1600" b="0" i="0" dirty="0">
                <a:solidFill>
                  <a:srgbClr val="CCE5FF"/>
                </a:solidFill>
                <a:latin typeface="Calibri"/>
              </a:rPr>
              <a:t>Measures how much the option price moves for every $1 move in the underlying asset.
Range: 0 to 1 (calls) / -1 to 0 (puts). ATM ≈ 0.50</a:t>
            </a:r>
          </a:p>
        </p:txBody>
      </p:sp>
      <p:sp>
        <p:nvSpPr>
          <p:cNvPr id="11" name="Rectangle 10"/>
          <p:cNvSpPr/>
          <p:nvPr/>
        </p:nvSpPr>
        <p:spPr>
          <a:xfrm>
            <a:off x="4297680" y="1143000"/>
            <a:ext cx="3657600" cy="237744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80" y="1143000"/>
            <a:ext cx="3657600" cy="7315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34840" y="1280160"/>
            <a:ext cx="3383280" cy="477054"/>
          </a:xfrm>
          <a:prstGeom prst="rect">
            <a:avLst/>
          </a:prstGeom>
          <a:noFill/>
        </p:spPr>
        <p:txBody>
          <a:bodyPr wrap="square">
            <a:spAutoFit/>
          </a:bodyPr>
          <a:lstStyle/>
          <a:p>
            <a:pPr algn="l"/>
            <a:r>
              <a:rPr sz="2500" b="1" i="0" dirty="0">
                <a:solidFill>
                  <a:srgbClr val="F5A623"/>
                </a:solidFill>
                <a:latin typeface="Calibri"/>
              </a:rPr>
              <a:t>Γ  Gamma</a:t>
            </a:r>
          </a:p>
        </p:txBody>
      </p:sp>
      <p:sp>
        <p:nvSpPr>
          <p:cNvPr id="14" name="TextBox 13"/>
          <p:cNvSpPr txBox="1"/>
          <p:nvPr/>
        </p:nvSpPr>
        <p:spPr>
          <a:xfrm>
            <a:off x="4434840" y="1783080"/>
            <a:ext cx="3383280" cy="365760"/>
          </a:xfrm>
          <a:prstGeom prst="rect">
            <a:avLst/>
          </a:prstGeom>
          <a:noFill/>
        </p:spPr>
        <p:txBody>
          <a:bodyPr wrap="square">
            <a:spAutoFit/>
          </a:bodyPr>
          <a:lstStyle/>
          <a:p>
            <a:pPr algn="l"/>
            <a:r>
              <a:rPr b="1" i="0" dirty="0">
                <a:solidFill>
                  <a:srgbClr val="F5A623"/>
                </a:solidFill>
                <a:latin typeface="Calibri"/>
              </a:rPr>
              <a:t>Delta Acceleration</a:t>
            </a:r>
          </a:p>
        </p:txBody>
      </p:sp>
      <p:sp>
        <p:nvSpPr>
          <p:cNvPr id="15" name="TextBox 14"/>
          <p:cNvSpPr txBox="1"/>
          <p:nvPr/>
        </p:nvSpPr>
        <p:spPr>
          <a:xfrm>
            <a:off x="4434840" y="2148840"/>
            <a:ext cx="3383280" cy="1077218"/>
          </a:xfrm>
          <a:prstGeom prst="rect">
            <a:avLst/>
          </a:prstGeom>
          <a:noFill/>
        </p:spPr>
        <p:txBody>
          <a:bodyPr wrap="square">
            <a:spAutoFit/>
          </a:bodyPr>
          <a:lstStyle/>
          <a:p>
            <a:pPr algn="l"/>
            <a:r>
              <a:rPr sz="1600" b="0" i="0" dirty="0">
                <a:solidFill>
                  <a:srgbClr val="CCE5FF"/>
                </a:solidFill>
                <a:latin typeface="Calibri"/>
              </a:rPr>
              <a:t>Rate of change of Delta for a $1 move in the asset.
High Gamma = rapid Delta shifts. Highest for ATM near expiry.</a:t>
            </a:r>
          </a:p>
        </p:txBody>
      </p:sp>
      <p:sp>
        <p:nvSpPr>
          <p:cNvPr id="16" name="Rectangle 15"/>
          <p:cNvSpPr/>
          <p:nvPr/>
        </p:nvSpPr>
        <p:spPr>
          <a:xfrm>
            <a:off x="8138160" y="1143000"/>
            <a:ext cx="3657600" cy="237744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38160" y="1143000"/>
            <a:ext cx="3657600" cy="73152"/>
          </a:xfrm>
          <a:prstGeom prst="rect">
            <a:avLst/>
          </a:prstGeom>
          <a:solidFill>
            <a:srgbClr val="64B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75320" y="1280160"/>
            <a:ext cx="3383280" cy="477054"/>
          </a:xfrm>
          <a:prstGeom prst="rect">
            <a:avLst/>
          </a:prstGeom>
          <a:noFill/>
        </p:spPr>
        <p:txBody>
          <a:bodyPr wrap="square">
            <a:spAutoFit/>
          </a:bodyPr>
          <a:lstStyle/>
          <a:p>
            <a:pPr algn="l"/>
            <a:r>
              <a:rPr sz="2500" b="1" i="0" dirty="0">
                <a:solidFill>
                  <a:srgbClr val="64B4F0"/>
                </a:solidFill>
                <a:latin typeface="Calibri"/>
              </a:rPr>
              <a:t>Θ  Theta</a:t>
            </a:r>
          </a:p>
        </p:txBody>
      </p:sp>
      <p:sp>
        <p:nvSpPr>
          <p:cNvPr id="19" name="TextBox 18"/>
          <p:cNvSpPr txBox="1"/>
          <p:nvPr/>
        </p:nvSpPr>
        <p:spPr>
          <a:xfrm>
            <a:off x="8275320" y="1783080"/>
            <a:ext cx="3383280" cy="365760"/>
          </a:xfrm>
          <a:prstGeom prst="rect">
            <a:avLst/>
          </a:prstGeom>
          <a:noFill/>
        </p:spPr>
        <p:txBody>
          <a:bodyPr wrap="square">
            <a:spAutoFit/>
          </a:bodyPr>
          <a:lstStyle/>
          <a:p>
            <a:pPr algn="l"/>
            <a:r>
              <a:rPr b="1" i="0" dirty="0">
                <a:solidFill>
                  <a:srgbClr val="F5A623"/>
                </a:solidFill>
                <a:latin typeface="Calibri"/>
              </a:rPr>
              <a:t>Time Decay</a:t>
            </a:r>
          </a:p>
        </p:txBody>
      </p:sp>
      <p:sp>
        <p:nvSpPr>
          <p:cNvPr id="20" name="TextBox 19"/>
          <p:cNvSpPr txBox="1"/>
          <p:nvPr/>
        </p:nvSpPr>
        <p:spPr>
          <a:xfrm>
            <a:off x="8275320" y="2148840"/>
            <a:ext cx="3383280" cy="1077218"/>
          </a:xfrm>
          <a:prstGeom prst="rect">
            <a:avLst/>
          </a:prstGeom>
          <a:noFill/>
        </p:spPr>
        <p:txBody>
          <a:bodyPr wrap="square">
            <a:spAutoFit/>
          </a:bodyPr>
          <a:lstStyle/>
          <a:p>
            <a:pPr algn="l"/>
            <a:r>
              <a:rPr lang="en-US" sz="1600" b="0" i="0" dirty="0">
                <a:solidFill>
                  <a:srgbClr val="CCE5FF"/>
                </a:solidFill>
                <a:latin typeface="Calibri"/>
              </a:rPr>
              <a:t>Daily loss of option value from time passing.
Seller's benefit; buyers suffer. Accelerates near expiration.</a:t>
            </a:r>
            <a:endParaRPr sz="1600" b="0" i="0" dirty="0">
              <a:solidFill>
                <a:srgbClr val="CCE5FF"/>
              </a:solidFill>
              <a:latin typeface="Calibri"/>
            </a:endParaRPr>
          </a:p>
        </p:txBody>
      </p:sp>
      <p:sp>
        <p:nvSpPr>
          <p:cNvPr id="21" name="Rectangle 20"/>
          <p:cNvSpPr/>
          <p:nvPr/>
        </p:nvSpPr>
        <p:spPr>
          <a:xfrm>
            <a:off x="2468880" y="3794760"/>
            <a:ext cx="3657600" cy="237744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468880" y="3794760"/>
            <a:ext cx="3657600" cy="73152"/>
          </a:xfrm>
          <a:prstGeom prst="rect">
            <a:avLst/>
          </a:prstGeom>
          <a:solidFill>
            <a:srgbClr val="C88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606040" y="3931920"/>
            <a:ext cx="3383280" cy="477054"/>
          </a:xfrm>
          <a:prstGeom prst="rect">
            <a:avLst/>
          </a:prstGeom>
          <a:noFill/>
        </p:spPr>
        <p:txBody>
          <a:bodyPr wrap="square">
            <a:spAutoFit/>
          </a:bodyPr>
          <a:lstStyle/>
          <a:p>
            <a:pPr algn="l"/>
            <a:r>
              <a:rPr sz="2500" b="1" i="0" dirty="0">
                <a:solidFill>
                  <a:srgbClr val="C882E6"/>
                </a:solidFill>
                <a:latin typeface="Calibri"/>
              </a:rPr>
              <a:t>V  Vega</a:t>
            </a:r>
          </a:p>
        </p:txBody>
      </p:sp>
      <p:sp>
        <p:nvSpPr>
          <p:cNvPr id="24" name="TextBox 23"/>
          <p:cNvSpPr txBox="1"/>
          <p:nvPr/>
        </p:nvSpPr>
        <p:spPr>
          <a:xfrm>
            <a:off x="2606040" y="4434840"/>
            <a:ext cx="3383280" cy="365760"/>
          </a:xfrm>
          <a:prstGeom prst="rect">
            <a:avLst/>
          </a:prstGeom>
          <a:noFill/>
        </p:spPr>
        <p:txBody>
          <a:bodyPr wrap="square">
            <a:spAutoFit/>
          </a:bodyPr>
          <a:lstStyle/>
          <a:p>
            <a:pPr algn="l"/>
            <a:r>
              <a:rPr b="1" i="0" dirty="0">
                <a:solidFill>
                  <a:srgbClr val="F5A623"/>
                </a:solidFill>
                <a:latin typeface="Calibri"/>
              </a:rPr>
              <a:t>Volatility Sensitivity</a:t>
            </a:r>
          </a:p>
        </p:txBody>
      </p:sp>
      <p:sp>
        <p:nvSpPr>
          <p:cNvPr id="25" name="TextBox 24"/>
          <p:cNvSpPr txBox="1"/>
          <p:nvPr/>
        </p:nvSpPr>
        <p:spPr>
          <a:xfrm>
            <a:off x="2606040" y="4800600"/>
            <a:ext cx="3383280" cy="1077218"/>
          </a:xfrm>
          <a:prstGeom prst="rect">
            <a:avLst/>
          </a:prstGeom>
          <a:noFill/>
        </p:spPr>
        <p:txBody>
          <a:bodyPr wrap="square">
            <a:spAutoFit/>
          </a:bodyPr>
          <a:lstStyle/>
          <a:p>
            <a:pPr algn="l"/>
            <a:r>
              <a:rPr sz="1600" b="0" i="0" dirty="0">
                <a:solidFill>
                  <a:srgbClr val="CCE5FF"/>
                </a:solidFill>
                <a:latin typeface="Calibri"/>
              </a:rPr>
              <a:t>Measures impact of 1% change in implied volatility.
High Vega = large premium swing on vol changes.</a:t>
            </a:r>
          </a:p>
        </p:txBody>
      </p:sp>
      <p:sp>
        <p:nvSpPr>
          <p:cNvPr id="26" name="Rectangle 25"/>
          <p:cNvSpPr/>
          <p:nvPr/>
        </p:nvSpPr>
        <p:spPr>
          <a:xfrm>
            <a:off x="6492240" y="3794760"/>
            <a:ext cx="3657600" cy="237744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492240" y="3794760"/>
            <a:ext cx="3657600" cy="73152"/>
          </a:xfrm>
          <a:prstGeom prst="rect">
            <a:avLst/>
          </a:prstGeom>
          <a:solidFill>
            <a:srgbClr val="64D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29400" y="3931920"/>
            <a:ext cx="3383280" cy="477054"/>
          </a:xfrm>
          <a:prstGeom prst="rect">
            <a:avLst/>
          </a:prstGeom>
          <a:noFill/>
        </p:spPr>
        <p:txBody>
          <a:bodyPr wrap="square">
            <a:spAutoFit/>
          </a:bodyPr>
          <a:lstStyle/>
          <a:p>
            <a:pPr algn="l"/>
            <a:r>
              <a:rPr sz="2500" b="1" i="0" dirty="0">
                <a:solidFill>
                  <a:srgbClr val="64DC96"/>
                </a:solidFill>
                <a:latin typeface="Calibri"/>
              </a:rPr>
              <a:t>ρ  Rho</a:t>
            </a:r>
          </a:p>
        </p:txBody>
      </p:sp>
      <p:sp>
        <p:nvSpPr>
          <p:cNvPr id="29" name="TextBox 28"/>
          <p:cNvSpPr txBox="1"/>
          <p:nvPr/>
        </p:nvSpPr>
        <p:spPr>
          <a:xfrm>
            <a:off x="6629400" y="4434840"/>
            <a:ext cx="3383280" cy="365760"/>
          </a:xfrm>
          <a:prstGeom prst="rect">
            <a:avLst/>
          </a:prstGeom>
          <a:noFill/>
        </p:spPr>
        <p:txBody>
          <a:bodyPr wrap="square">
            <a:spAutoFit/>
          </a:bodyPr>
          <a:lstStyle/>
          <a:p>
            <a:pPr algn="l"/>
            <a:r>
              <a:rPr b="1" i="0" dirty="0">
                <a:solidFill>
                  <a:srgbClr val="F5A623"/>
                </a:solidFill>
                <a:latin typeface="Calibri"/>
              </a:rPr>
              <a:t>Interest Rate Sensitivity</a:t>
            </a:r>
          </a:p>
        </p:txBody>
      </p:sp>
      <p:sp>
        <p:nvSpPr>
          <p:cNvPr id="30" name="TextBox 29"/>
          <p:cNvSpPr txBox="1"/>
          <p:nvPr/>
        </p:nvSpPr>
        <p:spPr>
          <a:xfrm>
            <a:off x="6629400" y="4800600"/>
            <a:ext cx="3383280" cy="830997"/>
          </a:xfrm>
          <a:prstGeom prst="rect">
            <a:avLst/>
          </a:prstGeom>
          <a:noFill/>
        </p:spPr>
        <p:txBody>
          <a:bodyPr wrap="square">
            <a:spAutoFit/>
          </a:bodyPr>
          <a:lstStyle/>
          <a:p>
            <a:pPr algn="l"/>
            <a:r>
              <a:rPr sz="1600" b="0" i="0" dirty="0">
                <a:solidFill>
                  <a:srgbClr val="CCE5FF"/>
                </a:solidFill>
                <a:latin typeface="Calibri"/>
              </a:rPr>
              <a:t>Impact of 1% change in risk-free rate on option price.
Calls gain, puts lose value as rates rise.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9144000" cy="640080"/>
          </a:xfrm>
          <a:prstGeom prst="rect">
            <a:avLst/>
          </a:prstGeom>
          <a:noFill/>
        </p:spPr>
        <p:txBody>
          <a:bodyPr wrap="square">
            <a:spAutoFit/>
          </a:bodyPr>
          <a:lstStyle/>
          <a:p>
            <a:pPr algn="l"/>
            <a:r>
              <a:rPr sz="2800" b="1" i="0">
                <a:solidFill>
                  <a:srgbClr val="FFFFFF"/>
                </a:solidFill>
                <a:latin typeface="Calibri"/>
              </a:rPr>
              <a:t>THE BLACK-SCHOLES MODEL</a:t>
            </a:r>
          </a:p>
        </p:txBody>
      </p:sp>
      <p:sp>
        <p:nvSpPr>
          <p:cNvPr id="5" name="Rectangle 4"/>
          <p:cNvSpPr/>
          <p:nvPr/>
        </p:nvSpPr>
        <p:spPr>
          <a:xfrm>
            <a:off x="457200" y="960120"/>
            <a:ext cx="2560320" cy="4572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143000"/>
            <a:ext cx="11247120" cy="1188720"/>
          </a:xfrm>
          <a:prstGeom prst="rect">
            <a:avLst/>
          </a:prstGeom>
          <a:solidFill>
            <a:srgbClr val="05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143000"/>
            <a:ext cx="91440" cy="118872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325880"/>
            <a:ext cx="10515600" cy="822960"/>
          </a:xfrm>
          <a:prstGeom prst="rect">
            <a:avLst/>
          </a:prstGeom>
          <a:noFill/>
        </p:spPr>
        <p:txBody>
          <a:bodyPr wrap="square">
            <a:spAutoFit/>
          </a:bodyPr>
          <a:lstStyle/>
          <a:p>
            <a:pPr algn="ctr"/>
            <a:r>
              <a:rPr sz="2800" b="1" i="0" dirty="0">
                <a:solidFill>
                  <a:srgbClr val="00C9B1"/>
                </a:solidFill>
                <a:latin typeface="Calibri"/>
              </a:rPr>
              <a:t>C = S₀·N(d₁)  –  </a:t>
            </a:r>
            <a:r>
              <a:rPr sz="2800" b="1" i="0" dirty="0" err="1">
                <a:solidFill>
                  <a:srgbClr val="00C9B1"/>
                </a:solidFill>
                <a:latin typeface="Calibri"/>
              </a:rPr>
              <a:t>K·e⁻ʳ</a:t>
            </a:r>
            <a:r>
              <a:rPr sz="2800" b="1" i="0" dirty="0">
                <a:solidFill>
                  <a:srgbClr val="00C9B1"/>
                </a:solidFill>
                <a:latin typeface="Calibri"/>
              </a:rPr>
              <a:t>ᵀ·N(d₂)</a:t>
            </a:r>
          </a:p>
        </p:txBody>
      </p:sp>
      <p:sp>
        <p:nvSpPr>
          <p:cNvPr id="9" name="TextBox 8"/>
          <p:cNvSpPr txBox="1"/>
          <p:nvPr/>
        </p:nvSpPr>
        <p:spPr>
          <a:xfrm>
            <a:off x="457200" y="2514600"/>
            <a:ext cx="3657600" cy="365760"/>
          </a:xfrm>
          <a:prstGeom prst="rect">
            <a:avLst/>
          </a:prstGeom>
          <a:noFill/>
        </p:spPr>
        <p:txBody>
          <a:bodyPr wrap="square">
            <a:spAutoFit/>
          </a:bodyPr>
          <a:lstStyle/>
          <a:p>
            <a:pPr algn="l"/>
            <a:r>
              <a:rPr b="1" i="0" dirty="0">
                <a:solidFill>
                  <a:srgbClr val="F5A623"/>
                </a:solidFill>
                <a:latin typeface="Calibri"/>
              </a:rPr>
              <a:t>Formula Variables:</a:t>
            </a:r>
          </a:p>
        </p:txBody>
      </p:sp>
      <p:sp>
        <p:nvSpPr>
          <p:cNvPr id="10" name="Rectangle 9"/>
          <p:cNvSpPr/>
          <p:nvPr/>
        </p:nvSpPr>
        <p:spPr>
          <a:xfrm>
            <a:off x="457200" y="2880360"/>
            <a:ext cx="3566160" cy="59436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953512"/>
            <a:ext cx="548640" cy="457200"/>
          </a:xfrm>
          <a:prstGeom prst="rect">
            <a:avLst/>
          </a:prstGeom>
          <a:noFill/>
        </p:spPr>
        <p:txBody>
          <a:bodyPr wrap="square">
            <a:spAutoFit/>
          </a:bodyPr>
          <a:lstStyle/>
          <a:p>
            <a:pPr algn="l"/>
            <a:r>
              <a:rPr sz="1800" b="1" i="0" dirty="0">
                <a:solidFill>
                  <a:srgbClr val="00C9B1"/>
                </a:solidFill>
                <a:latin typeface="Calibri"/>
              </a:rPr>
              <a:t>S₀</a:t>
            </a:r>
          </a:p>
        </p:txBody>
      </p:sp>
      <p:sp>
        <p:nvSpPr>
          <p:cNvPr id="12" name="TextBox 11"/>
          <p:cNvSpPr txBox="1"/>
          <p:nvPr/>
        </p:nvSpPr>
        <p:spPr>
          <a:xfrm>
            <a:off x="1097280" y="2990088"/>
            <a:ext cx="2834640" cy="338554"/>
          </a:xfrm>
          <a:prstGeom prst="rect">
            <a:avLst/>
          </a:prstGeom>
          <a:noFill/>
        </p:spPr>
        <p:txBody>
          <a:bodyPr wrap="square">
            <a:spAutoFit/>
          </a:bodyPr>
          <a:lstStyle/>
          <a:p>
            <a:pPr algn="l"/>
            <a:r>
              <a:rPr sz="1600" b="0" i="0" dirty="0">
                <a:solidFill>
                  <a:srgbClr val="CCE5FF"/>
                </a:solidFill>
                <a:latin typeface="Calibri"/>
              </a:rPr>
              <a:t>Current stock price</a:t>
            </a:r>
          </a:p>
        </p:txBody>
      </p:sp>
      <p:sp>
        <p:nvSpPr>
          <p:cNvPr id="13" name="Rectangle 12"/>
          <p:cNvSpPr/>
          <p:nvPr/>
        </p:nvSpPr>
        <p:spPr>
          <a:xfrm>
            <a:off x="4206240" y="2880360"/>
            <a:ext cx="3566160" cy="59436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97679" y="2953512"/>
            <a:ext cx="548640" cy="457200"/>
          </a:xfrm>
          <a:prstGeom prst="rect">
            <a:avLst/>
          </a:prstGeom>
          <a:noFill/>
        </p:spPr>
        <p:txBody>
          <a:bodyPr wrap="square">
            <a:spAutoFit/>
          </a:bodyPr>
          <a:lstStyle/>
          <a:p>
            <a:pPr algn="l"/>
            <a:r>
              <a:rPr sz="1800" b="1" i="0">
                <a:solidFill>
                  <a:srgbClr val="00C9B1"/>
                </a:solidFill>
                <a:latin typeface="Calibri"/>
              </a:rPr>
              <a:t>K</a:t>
            </a:r>
          </a:p>
        </p:txBody>
      </p:sp>
      <p:sp>
        <p:nvSpPr>
          <p:cNvPr id="15" name="TextBox 14"/>
          <p:cNvSpPr txBox="1"/>
          <p:nvPr/>
        </p:nvSpPr>
        <p:spPr>
          <a:xfrm>
            <a:off x="4846320" y="2990088"/>
            <a:ext cx="2834640" cy="338554"/>
          </a:xfrm>
          <a:prstGeom prst="rect">
            <a:avLst/>
          </a:prstGeom>
          <a:noFill/>
        </p:spPr>
        <p:txBody>
          <a:bodyPr wrap="square">
            <a:spAutoFit/>
          </a:bodyPr>
          <a:lstStyle/>
          <a:p>
            <a:pPr algn="l"/>
            <a:r>
              <a:rPr sz="1600" b="0" i="0" dirty="0">
                <a:solidFill>
                  <a:srgbClr val="CCE5FF"/>
                </a:solidFill>
                <a:latin typeface="Calibri"/>
              </a:rPr>
              <a:t>Strike price</a:t>
            </a:r>
          </a:p>
        </p:txBody>
      </p:sp>
      <p:sp>
        <p:nvSpPr>
          <p:cNvPr id="16" name="Rectangle 15"/>
          <p:cNvSpPr/>
          <p:nvPr/>
        </p:nvSpPr>
        <p:spPr>
          <a:xfrm>
            <a:off x="7955279" y="2880360"/>
            <a:ext cx="3566160" cy="59436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19" y="2953512"/>
            <a:ext cx="548640" cy="457200"/>
          </a:xfrm>
          <a:prstGeom prst="rect">
            <a:avLst/>
          </a:prstGeom>
          <a:noFill/>
        </p:spPr>
        <p:txBody>
          <a:bodyPr wrap="square">
            <a:spAutoFit/>
          </a:bodyPr>
          <a:lstStyle/>
          <a:p>
            <a:pPr algn="l"/>
            <a:r>
              <a:rPr sz="1800" b="1" i="0">
                <a:solidFill>
                  <a:srgbClr val="00C9B1"/>
                </a:solidFill>
                <a:latin typeface="Calibri"/>
              </a:rPr>
              <a:t>T</a:t>
            </a:r>
          </a:p>
        </p:txBody>
      </p:sp>
      <p:sp>
        <p:nvSpPr>
          <p:cNvPr id="18" name="TextBox 17"/>
          <p:cNvSpPr txBox="1"/>
          <p:nvPr/>
        </p:nvSpPr>
        <p:spPr>
          <a:xfrm>
            <a:off x="8595359" y="2990088"/>
            <a:ext cx="2834640" cy="338554"/>
          </a:xfrm>
          <a:prstGeom prst="rect">
            <a:avLst/>
          </a:prstGeom>
          <a:noFill/>
        </p:spPr>
        <p:txBody>
          <a:bodyPr wrap="square">
            <a:spAutoFit/>
          </a:bodyPr>
          <a:lstStyle/>
          <a:p>
            <a:pPr algn="l"/>
            <a:r>
              <a:rPr sz="1600" b="0" i="0" dirty="0">
                <a:solidFill>
                  <a:srgbClr val="CCE5FF"/>
                </a:solidFill>
                <a:latin typeface="Calibri"/>
              </a:rPr>
              <a:t>Time to expiration (years)</a:t>
            </a:r>
          </a:p>
        </p:txBody>
      </p:sp>
      <p:sp>
        <p:nvSpPr>
          <p:cNvPr id="19" name="Rectangle 18"/>
          <p:cNvSpPr/>
          <p:nvPr/>
        </p:nvSpPr>
        <p:spPr>
          <a:xfrm>
            <a:off x="457200" y="3566160"/>
            <a:ext cx="3566160" cy="59436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3639312"/>
            <a:ext cx="548640" cy="457200"/>
          </a:xfrm>
          <a:prstGeom prst="rect">
            <a:avLst/>
          </a:prstGeom>
          <a:noFill/>
        </p:spPr>
        <p:txBody>
          <a:bodyPr wrap="square">
            <a:spAutoFit/>
          </a:bodyPr>
          <a:lstStyle/>
          <a:p>
            <a:pPr algn="l"/>
            <a:r>
              <a:rPr sz="1800" b="1" i="0">
                <a:solidFill>
                  <a:srgbClr val="00C9B1"/>
                </a:solidFill>
                <a:latin typeface="Calibri"/>
              </a:rPr>
              <a:t>r</a:t>
            </a:r>
          </a:p>
        </p:txBody>
      </p:sp>
      <p:sp>
        <p:nvSpPr>
          <p:cNvPr id="21" name="TextBox 20"/>
          <p:cNvSpPr txBox="1"/>
          <p:nvPr/>
        </p:nvSpPr>
        <p:spPr>
          <a:xfrm>
            <a:off x="1097280" y="3675887"/>
            <a:ext cx="2834640" cy="338554"/>
          </a:xfrm>
          <a:prstGeom prst="rect">
            <a:avLst/>
          </a:prstGeom>
          <a:noFill/>
        </p:spPr>
        <p:txBody>
          <a:bodyPr wrap="square">
            <a:spAutoFit/>
          </a:bodyPr>
          <a:lstStyle/>
          <a:p>
            <a:pPr algn="l"/>
            <a:r>
              <a:rPr sz="1600" b="0" i="0" dirty="0">
                <a:solidFill>
                  <a:srgbClr val="CCE5FF"/>
                </a:solidFill>
                <a:latin typeface="Calibri"/>
              </a:rPr>
              <a:t>Risk-free interest rate</a:t>
            </a:r>
          </a:p>
        </p:txBody>
      </p:sp>
      <p:sp>
        <p:nvSpPr>
          <p:cNvPr id="22" name="Rectangle 21"/>
          <p:cNvSpPr/>
          <p:nvPr/>
        </p:nvSpPr>
        <p:spPr>
          <a:xfrm>
            <a:off x="4206240" y="3566160"/>
            <a:ext cx="3566160" cy="59436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297679" y="3639312"/>
            <a:ext cx="548640" cy="457200"/>
          </a:xfrm>
          <a:prstGeom prst="rect">
            <a:avLst/>
          </a:prstGeom>
          <a:noFill/>
        </p:spPr>
        <p:txBody>
          <a:bodyPr wrap="square">
            <a:spAutoFit/>
          </a:bodyPr>
          <a:lstStyle/>
          <a:p>
            <a:pPr algn="l"/>
            <a:r>
              <a:rPr sz="1800" b="1" i="0">
                <a:solidFill>
                  <a:srgbClr val="00C9B1"/>
                </a:solidFill>
                <a:latin typeface="Calibri"/>
              </a:rPr>
              <a:t>σ</a:t>
            </a:r>
          </a:p>
        </p:txBody>
      </p:sp>
      <p:sp>
        <p:nvSpPr>
          <p:cNvPr id="24" name="TextBox 23"/>
          <p:cNvSpPr txBox="1"/>
          <p:nvPr/>
        </p:nvSpPr>
        <p:spPr>
          <a:xfrm>
            <a:off x="4846320" y="3675887"/>
            <a:ext cx="2834640" cy="338554"/>
          </a:xfrm>
          <a:prstGeom prst="rect">
            <a:avLst/>
          </a:prstGeom>
          <a:noFill/>
        </p:spPr>
        <p:txBody>
          <a:bodyPr wrap="square">
            <a:spAutoFit/>
          </a:bodyPr>
          <a:lstStyle/>
          <a:p>
            <a:pPr algn="l"/>
            <a:r>
              <a:rPr sz="1600" b="0" i="0" dirty="0">
                <a:solidFill>
                  <a:srgbClr val="CCE5FF"/>
                </a:solidFill>
                <a:latin typeface="Calibri"/>
              </a:rPr>
              <a:t>Volatility (std dev of returns)</a:t>
            </a:r>
          </a:p>
        </p:txBody>
      </p:sp>
      <p:sp>
        <p:nvSpPr>
          <p:cNvPr id="25" name="Rectangle 24"/>
          <p:cNvSpPr/>
          <p:nvPr/>
        </p:nvSpPr>
        <p:spPr>
          <a:xfrm>
            <a:off x="7955279" y="3566160"/>
            <a:ext cx="3566160" cy="59436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046719" y="3639312"/>
            <a:ext cx="548640" cy="457200"/>
          </a:xfrm>
          <a:prstGeom prst="rect">
            <a:avLst/>
          </a:prstGeom>
          <a:noFill/>
        </p:spPr>
        <p:txBody>
          <a:bodyPr wrap="square">
            <a:spAutoFit/>
          </a:bodyPr>
          <a:lstStyle/>
          <a:p>
            <a:pPr algn="l"/>
            <a:r>
              <a:rPr sz="1800" b="1" i="0">
                <a:solidFill>
                  <a:srgbClr val="00C9B1"/>
                </a:solidFill>
                <a:latin typeface="Calibri"/>
              </a:rPr>
              <a:t>N(·)</a:t>
            </a:r>
          </a:p>
        </p:txBody>
      </p:sp>
      <p:sp>
        <p:nvSpPr>
          <p:cNvPr id="27" name="TextBox 26"/>
          <p:cNvSpPr txBox="1"/>
          <p:nvPr/>
        </p:nvSpPr>
        <p:spPr>
          <a:xfrm>
            <a:off x="8595359" y="3675887"/>
            <a:ext cx="2834640" cy="338554"/>
          </a:xfrm>
          <a:prstGeom prst="rect">
            <a:avLst/>
          </a:prstGeom>
          <a:noFill/>
        </p:spPr>
        <p:txBody>
          <a:bodyPr wrap="square">
            <a:spAutoFit/>
          </a:bodyPr>
          <a:lstStyle/>
          <a:p>
            <a:pPr algn="l"/>
            <a:r>
              <a:rPr sz="1600" b="0" i="0" dirty="0">
                <a:solidFill>
                  <a:srgbClr val="CCE5FF"/>
                </a:solidFill>
                <a:latin typeface="Calibri"/>
              </a:rPr>
              <a:t>Cumulative normal distribution</a:t>
            </a:r>
          </a:p>
        </p:txBody>
      </p:sp>
      <p:sp>
        <p:nvSpPr>
          <p:cNvPr id="28" name="Rectangle 27"/>
          <p:cNvSpPr/>
          <p:nvPr/>
        </p:nvSpPr>
        <p:spPr>
          <a:xfrm>
            <a:off x="457200" y="4343400"/>
            <a:ext cx="11247120" cy="137160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 y="4343400"/>
            <a:ext cx="91440" cy="13716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4434840"/>
            <a:ext cx="3657600" cy="365760"/>
          </a:xfrm>
          <a:prstGeom prst="rect">
            <a:avLst/>
          </a:prstGeom>
          <a:noFill/>
        </p:spPr>
        <p:txBody>
          <a:bodyPr wrap="square">
            <a:spAutoFit/>
          </a:bodyPr>
          <a:lstStyle/>
          <a:p>
            <a:pPr algn="l"/>
            <a:r>
              <a:rPr b="1" i="0" dirty="0">
                <a:solidFill>
                  <a:srgbClr val="F5A623"/>
                </a:solidFill>
                <a:latin typeface="Calibri"/>
              </a:rPr>
              <a:t>Key Assumptions:</a:t>
            </a:r>
          </a:p>
        </p:txBody>
      </p:sp>
      <p:sp>
        <p:nvSpPr>
          <p:cNvPr id="31" name="TextBox 30"/>
          <p:cNvSpPr txBox="1"/>
          <p:nvPr/>
        </p:nvSpPr>
        <p:spPr>
          <a:xfrm>
            <a:off x="731520" y="4800600"/>
            <a:ext cx="10972800" cy="338554"/>
          </a:xfrm>
          <a:prstGeom prst="rect">
            <a:avLst/>
          </a:prstGeom>
          <a:noFill/>
        </p:spPr>
        <p:txBody>
          <a:bodyPr wrap="square">
            <a:spAutoFit/>
          </a:bodyPr>
          <a:lstStyle/>
          <a:p>
            <a:pPr algn="l"/>
            <a:r>
              <a:rPr sz="1600" b="0" i="0" dirty="0">
                <a:solidFill>
                  <a:srgbClr val="CCE5FF"/>
                </a:solidFill>
                <a:latin typeface="Calibri"/>
              </a:rPr>
              <a:t>• No dividends   • Constant volatility   • Continuous trading   • European-style options   • Log-normal price distribution</a:t>
            </a:r>
          </a:p>
        </p:txBody>
      </p:sp>
      <p:sp>
        <p:nvSpPr>
          <p:cNvPr id="32" name="TextBox 31"/>
          <p:cNvSpPr txBox="1"/>
          <p:nvPr/>
        </p:nvSpPr>
        <p:spPr>
          <a:xfrm>
            <a:off x="457200" y="5852160"/>
            <a:ext cx="11247120" cy="457200"/>
          </a:xfrm>
          <a:prstGeom prst="rect">
            <a:avLst/>
          </a:prstGeom>
          <a:noFill/>
        </p:spPr>
        <p:txBody>
          <a:bodyPr wrap="square">
            <a:spAutoFit/>
          </a:bodyPr>
          <a:lstStyle/>
          <a:p>
            <a:pPr algn="ctr"/>
            <a:r>
              <a:rPr sz="1200" b="0" i="1">
                <a:solidFill>
                  <a:srgbClr val="7E9BB5"/>
                </a:solidFill>
                <a:latin typeface="Calibri"/>
              </a:rPr>
              <a:t>Nobel Prize 1997  |  Foundation of modern derivatives pricing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9144000" cy="640080"/>
          </a:xfrm>
          <a:prstGeom prst="rect">
            <a:avLst/>
          </a:prstGeom>
          <a:noFill/>
        </p:spPr>
        <p:txBody>
          <a:bodyPr wrap="square">
            <a:spAutoFit/>
          </a:bodyPr>
          <a:lstStyle/>
          <a:p>
            <a:pPr algn="l"/>
            <a:r>
              <a:rPr sz="2600" b="1" i="0">
                <a:solidFill>
                  <a:srgbClr val="FFFFFF"/>
                </a:solidFill>
                <a:latin typeface="Calibri"/>
              </a:rPr>
              <a:t>VOLATILITY: IMPLIED vs HISTORICAL</a:t>
            </a:r>
          </a:p>
        </p:txBody>
      </p:sp>
      <p:sp>
        <p:nvSpPr>
          <p:cNvPr id="5" name="Rectangle 4"/>
          <p:cNvSpPr/>
          <p:nvPr/>
        </p:nvSpPr>
        <p:spPr>
          <a:xfrm>
            <a:off x="457200" y="960120"/>
            <a:ext cx="2926080" cy="4572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143000"/>
            <a:ext cx="5577840" cy="329184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143000"/>
            <a:ext cx="5577840" cy="91440"/>
          </a:xfrm>
          <a:prstGeom prst="rect">
            <a:avLst/>
          </a:prstGeom>
          <a:solidFill>
            <a:srgbClr val="64B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280160"/>
            <a:ext cx="5212080" cy="369332"/>
          </a:xfrm>
          <a:prstGeom prst="rect">
            <a:avLst/>
          </a:prstGeom>
          <a:noFill/>
        </p:spPr>
        <p:txBody>
          <a:bodyPr wrap="square">
            <a:spAutoFit/>
          </a:bodyPr>
          <a:lstStyle/>
          <a:p>
            <a:pPr algn="l"/>
            <a:r>
              <a:rPr b="1" i="0" dirty="0">
                <a:solidFill>
                  <a:srgbClr val="64B4F0"/>
                </a:solidFill>
                <a:latin typeface="Calibri"/>
              </a:rPr>
              <a:t>HISTORICAL VOLATILITY (HV)</a:t>
            </a:r>
          </a:p>
        </p:txBody>
      </p:sp>
      <p:sp>
        <p:nvSpPr>
          <p:cNvPr id="9" name="Rectangle 8"/>
          <p:cNvSpPr/>
          <p:nvPr/>
        </p:nvSpPr>
        <p:spPr>
          <a:xfrm>
            <a:off x="594360" y="1920240"/>
            <a:ext cx="5303520" cy="56692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4360" y="1920240"/>
            <a:ext cx="54864" cy="566928"/>
          </a:xfrm>
          <a:prstGeom prst="rect">
            <a:avLst/>
          </a:prstGeom>
          <a:solidFill>
            <a:srgbClr val="64B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993392"/>
            <a:ext cx="5029200" cy="307777"/>
          </a:xfrm>
          <a:prstGeom prst="rect">
            <a:avLst/>
          </a:prstGeom>
          <a:noFill/>
        </p:spPr>
        <p:txBody>
          <a:bodyPr wrap="square">
            <a:spAutoFit/>
          </a:bodyPr>
          <a:lstStyle/>
          <a:p>
            <a:pPr algn="l"/>
            <a:r>
              <a:rPr sz="1400" b="0" i="0" dirty="0">
                <a:solidFill>
                  <a:srgbClr val="CCE5FF"/>
                </a:solidFill>
                <a:latin typeface="Calibri"/>
              </a:rPr>
              <a:t>Calculated from past price movements</a:t>
            </a:r>
          </a:p>
        </p:txBody>
      </p:sp>
      <p:sp>
        <p:nvSpPr>
          <p:cNvPr id="12" name="Rectangle 11"/>
          <p:cNvSpPr/>
          <p:nvPr/>
        </p:nvSpPr>
        <p:spPr>
          <a:xfrm>
            <a:off x="594360" y="2606040"/>
            <a:ext cx="5303520" cy="56692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94360" y="2606040"/>
            <a:ext cx="54864" cy="566928"/>
          </a:xfrm>
          <a:prstGeom prst="rect">
            <a:avLst/>
          </a:prstGeom>
          <a:solidFill>
            <a:srgbClr val="64B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2679192"/>
            <a:ext cx="5029200" cy="307777"/>
          </a:xfrm>
          <a:prstGeom prst="rect">
            <a:avLst/>
          </a:prstGeom>
          <a:noFill/>
        </p:spPr>
        <p:txBody>
          <a:bodyPr wrap="square">
            <a:spAutoFit/>
          </a:bodyPr>
          <a:lstStyle/>
          <a:p>
            <a:pPr algn="l"/>
            <a:r>
              <a:rPr sz="1400" b="0" i="0" dirty="0">
                <a:solidFill>
                  <a:srgbClr val="CCE5FF"/>
                </a:solidFill>
                <a:latin typeface="Calibri"/>
              </a:rPr>
              <a:t>Backward-looking — tells you WHAT happened</a:t>
            </a:r>
          </a:p>
        </p:txBody>
      </p:sp>
      <p:sp>
        <p:nvSpPr>
          <p:cNvPr id="15" name="Rectangle 14"/>
          <p:cNvSpPr/>
          <p:nvPr/>
        </p:nvSpPr>
        <p:spPr>
          <a:xfrm>
            <a:off x="594360" y="3291840"/>
            <a:ext cx="5303520" cy="56692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3291840"/>
            <a:ext cx="54864" cy="566928"/>
          </a:xfrm>
          <a:prstGeom prst="rect">
            <a:avLst/>
          </a:prstGeom>
          <a:solidFill>
            <a:srgbClr val="64B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364992"/>
            <a:ext cx="5029200" cy="307777"/>
          </a:xfrm>
          <a:prstGeom prst="rect">
            <a:avLst/>
          </a:prstGeom>
          <a:noFill/>
        </p:spPr>
        <p:txBody>
          <a:bodyPr wrap="square">
            <a:spAutoFit/>
          </a:bodyPr>
          <a:lstStyle/>
          <a:p>
            <a:pPr algn="l"/>
            <a:r>
              <a:rPr sz="1400" b="0" i="0" dirty="0">
                <a:solidFill>
                  <a:srgbClr val="CCE5FF"/>
                </a:solidFill>
                <a:latin typeface="Calibri"/>
              </a:rPr>
              <a:t>Lower HV = calmer past price action</a:t>
            </a:r>
          </a:p>
        </p:txBody>
      </p:sp>
      <p:sp>
        <p:nvSpPr>
          <p:cNvPr id="18" name="Rectangle 17"/>
          <p:cNvSpPr/>
          <p:nvPr/>
        </p:nvSpPr>
        <p:spPr>
          <a:xfrm>
            <a:off x="594360" y="3977639"/>
            <a:ext cx="5303520" cy="56692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94360" y="3977639"/>
            <a:ext cx="54864" cy="566928"/>
          </a:xfrm>
          <a:prstGeom prst="rect">
            <a:avLst/>
          </a:prstGeom>
          <a:solidFill>
            <a:srgbClr val="64B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4050791"/>
            <a:ext cx="5029200" cy="307777"/>
          </a:xfrm>
          <a:prstGeom prst="rect">
            <a:avLst/>
          </a:prstGeom>
          <a:noFill/>
        </p:spPr>
        <p:txBody>
          <a:bodyPr wrap="square">
            <a:spAutoFit/>
          </a:bodyPr>
          <a:lstStyle/>
          <a:p>
            <a:pPr algn="l"/>
            <a:r>
              <a:rPr sz="1400" b="0" i="0" dirty="0">
                <a:solidFill>
                  <a:srgbClr val="CCE5FF"/>
                </a:solidFill>
                <a:latin typeface="Calibri"/>
              </a:rPr>
              <a:t>Used as baseline to compare with IV</a:t>
            </a:r>
          </a:p>
        </p:txBody>
      </p:sp>
      <p:sp>
        <p:nvSpPr>
          <p:cNvPr id="21" name="Rectangle 20"/>
          <p:cNvSpPr/>
          <p:nvPr/>
        </p:nvSpPr>
        <p:spPr>
          <a:xfrm>
            <a:off x="6400800" y="1143000"/>
            <a:ext cx="5577840" cy="329184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400800" y="1143000"/>
            <a:ext cx="5577840" cy="9144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0" y="1280160"/>
            <a:ext cx="5212080" cy="369332"/>
          </a:xfrm>
          <a:prstGeom prst="rect">
            <a:avLst/>
          </a:prstGeom>
          <a:noFill/>
        </p:spPr>
        <p:txBody>
          <a:bodyPr wrap="square">
            <a:spAutoFit/>
          </a:bodyPr>
          <a:lstStyle/>
          <a:p>
            <a:pPr algn="l"/>
            <a:r>
              <a:rPr b="1" i="0" dirty="0">
                <a:solidFill>
                  <a:srgbClr val="00C9B1"/>
                </a:solidFill>
                <a:latin typeface="Calibri"/>
              </a:rPr>
              <a:t>IMPLIED VOLATILITY (IV)</a:t>
            </a:r>
          </a:p>
        </p:txBody>
      </p:sp>
      <p:sp>
        <p:nvSpPr>
          <p:cNvPr id="24" name="Rectangle 23"/>
          <p:cNvSpPr/>
          <p:nvPr/>
        </p:nvSpPr>
        <p:spPr>
          <a:xfrm>
            <a:off x="6537960" y="1920240"/>
            <a:ext cx="5303520" cy="56692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537960" y="1920240"/>
            <a:ext cx="54864" cy="566928"/>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75120" y="1993392"/>
            <a:ext cx="5029200" cy="307777"/>
          </a:xfrm>
          <a:prstGeom prst="rect">
            <a:avLst/>
          </a:prstGeom>
          <a:noFill/>
        </p:spPr>
        <p:txBody>
          <a:bodyPr wrap="square">
            <a:spAutoFit/>
          </a:bodyPr>
          <a:lstStyle/>
          <a:p>
            <a:pPr algn="l"/>
            <a:r>
              <a:rPr sz="1400" b="0" i="0" dirty="0">
                <a:solidFill>
                  <a:srgbClr val="CCE5FF"/>
                </a:solidFill>
                <a:latin typeface="Calibri"/>
              </a:rPr>
              <a:t>Derived from current option market prices</a:t>
            </a:r>
          </a:p>
        </p:txBody>
      </p:sp>
      <p:sp>
        <p:nvSpPr>
          <p:cNvPr id="27" name="Rectangle 26"/>
          <p:cNvSpPr/>
          <p:nvPr/>
        </p:nvSpPr>
        <p:spPr>
          <a:xfrm>
            <a:off x="6537960" y="2606040"/>
            <a:ext cx="5303520" cy="56692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537960" y="2606040"/>
            <a:ext cx="54864" cy="566928"/>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75120" y="2679192"/>
            <a:ext cx="5029200" cy="307777"/>
          </a:xfrm>
          <a:prstGeom prst="rect">
            <a:avLst/>
          </a:prstGeom>
          <a:noFill/>
        </p:spPr>
        <p:txBody>
          <a:bodyPr wrap="square">
            <a:spAutoFit/>
          </a:bodyPr>
          <a:lstStyle/>
          <a:p>
            <a:pPr algn="l"/>
            <a:r>
              <a:rPr sz="1400" b="0" i="0" dirty="0">
                <a:solidFill>
                  <a:srgbClr val="CCE5FF"/>
                </a:solidFill>
                <a:latin typeface="Calibri"/>
              </a:rPr>
              <a:t>Forward-looking — tells you WHAT is expected</a:t>
            </a:r>
          </a:p>
        </p:txBody>
      </p:sp>
      <p:sp>
        <p:nvSpPr>
          <p:cNvPr id="30" name="Rectangle 29"/>
          <p:cNvSpPr/>
          <p:nvPr/>
        </p:nvSpPr>
        <p:spPr>
          <a:xfrm>
            <a:off x="6537960" y="3291840"/>
            <a:ext cx="5303520" cy="56692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537960" y="3291840"/>
            <a:ext cx="54864" cy="566928"/>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675120" y="3364992"/>
            <a:ext cx="5029200" cy="307777"/>
          </a:xfrm>
          <a:prstGeom prst="rect">
            <a:avLst/>
          </a:prstGeom>
          <a:noFill/>
        </p:spPr>
        <p:txBody>
          <a:bodyPr wrap="square">
            <a:spAutoFit/>
          </a:bodyPr>
          <a:lstStyle/>
          <a:p>
            <a:pPr algn="l"/>
            <a:r>
              <a:rPr sz="1400" b="0" i="0" dirty="0">
                <a:solidFill>
                  <a:srgbClr val="CCE5FF"/>
                </a:solidFill>
                <a:latin typeface="Calibri"/>
              </a:rPr>
              <a:t>Higher IV = expensive premiums</a:t>
            </a:r>
          </a:p>
        </p:txBody>
      </p:sp>
      <p:sp>
        <p:nvSpPr>
          <p:cNvPr id="33" name="Rectangle 32"/>
          <p:cNvSpPr/>
          <p:nvPr/>
        </p:nvSpPr>
        <p:spPr>
          <a:xfrm>
            <a:off x="6537960" y="3977639"/>
            <a:ext cx="5303520" cy="56692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537960" y="3977639"/>
            <a:ext cx="54864" cy="566928"/>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75120" y="4050791"/>
            <a:ext cx="5029200" cy="307777"/>
          </a:xfrm>
          <a:prstGeom prst="rect">
            <a:avLst/>
          </a:prstGeom>
          <a:noFill/>
        </p:spPr>
        <p:txBody>
          <a:bodyPr wrap="square">
            <a:spAutoFit/>
          </a:bodyPr>
          <a:lstStyle/>
          <a:p>
            <a:pPr algn="l"/>
            <a:r>
              <a:rPr sz="1400" b="0" i="0" dirty="0">
                <a:solidFill>
                  <a:srgbClr val="CCE5FF"/>
                </a:solidFill>
                <a:latin typeface="Calibri"/>
              </a:rPr>
              <a:t>VIX = IV index for S&amp;P 500 (Fear Gauge)</a:t>
            </a:r>
          </a:p>
        </p:txBody>
      </p:sp>
      <p:sp>
        <p:nvSpPr>
          <p:cNvPr id="36" name="Rectangle 35"/>
          <p:cNvSpPr/>
          <p:nvPr/>
        </p:nvSpPr>
        <p:spPr>
          <a:xfrm>
            <a:off x="457200" y="4617720"/>
            <a:ext cx="11247120" cy="150876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7200" y="4617720"/>
            <a:ext cx="91440" cy="15087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31520" y="4709160"/>
            <a:ext cx="10972800" cy="369332"/>
          </a:xfrm>
          <a:prstGeom prst="rect">
            <a:avLst/>
          </a:prstGeom>
          <a:noFill/>
        </p:spPr>
        <p:txBody>
          <a:bodyPr wrap="square">
            <a:spAutoFit/>
          </a:bodyPr>
          <a:lstStyle/>
          <a:p>
            <a:pPr algn="l"/>
            <a:r>
              <a:rPr b="1" i="0" dirty="0">
                <a:solidFill>
                  <a:srgbClr val="F5A623"/>
                </a:solidFill>
                <a:latin typeface="Calibri"/>
              </a:rPr>
              <a:t>IV RANK &amp; IV PERCENTILE — How to Use Volatility in Trading</a:t>
            </a:r>
          </a:p>
        </p:txBody>
      </p:sp>
      <p:sp>
        <p:nvSpPr>
          <p:cNvPr id="39" name="TextBox 38"/>
          <p:cNvSpPr txBox="1"/>
          <p:nvPr/>
        </p:nvSpPr>
        <p:spPr>
          <a:xfrm>
            <a:off x="1188720" y="4983480"/>
            <a:ext cx="10972800" cy="1077218"/>
          </a:xfrm>
          <a:prstGeom prst="rect">
            <a:avLst/>
          </a:prstGeom>
          <a:noFill/>
        </p:spPr>
        <p:txBody>
          <a:bodyPr wrap="square">
            <a:spAutoFit/>
          </a:bodyPr>
          <a:lstStyle/>
          <a:p>
            <a:pPr algn="l"/>
            <a:r>
              <a:rPr sz="1600" b="0" i="0" dirty="0">
                <a:solidFill>
                  <a:srgbClr val="CCE5FF"/>
                </a:solidFill>
                <a:latin typeface="Calibri"/>
              </a:rPr>
              <a:t>IV Rank: Compares current IV to its 52-week range.  </a:t>
            </a:r>
            <a:endParaRPr lang="en-IN" sz="1600" b="0" i="0" dirty="0">
              <a:solidFill>
                <a:srgbClr val="CCE5FF"/>
              </a:solidFill>
              <a:latin typeface="Calibri"/>
            </a:endParaRPr>
          </a:p>
          <a:p>
            <a:pPr algn="l"/>
            <a:r>
              <a:rPr sz="1600" b="0" i="0" dirty="0">
                <a:solidFill>
                  <a:srgbClr val="CCE5FF"/>
                </a:solidFill>
                <a:latin typeface="Calibri"/>
              </a:rPr>
              <a:t>IV &lt; 30% → Buy options (cheap).  </a:t>
            </a:r>
            <a:endParaRPr lang="en-IN" sz="1600" b="0" i="0" dirty="0">
              <a:solidFill>
                <a:srgbClr val="CCE5FF"/>
              </a:solidFill>
              <a:latin typeface="Calibri"/>
            </a:endParaRPr>
          </a:p>
          <a:p>
            <a:pPr algn="l"/>
            <a:r>
              <a:rPr sz="1600" b="0" i="0" dirty="0">
                <a:solidFill>
                  <a:srgbClr val="CCE5FF"/>
                </a:solidFill>
                <a:latin typeface="Calibri"/>
              </a:rPr>
              <a:t>IV &gt; 70% → Sell options (expensive).  </a:t>
            </a:r>
            <a:endParaRPr lang="en-IN" sz="1600" b="0" i="0" dirty="0">
              <a:solidFill>
                <a:srgbClr val="CCE5FF"/>
              </a:solidFill>
              <a:latin typeface="Calibri"/>
            </a:endParaRPr>
          </a:p>
          <a:p>
            <a:pPr algn="l"/>
            <a:r>
              <a:rPr sz="1600" b="0" i="0" dirty="0">
                <a:solidFill>
                  <a:srgbClr val="CCE5FF"/>
                </a:solidFill>
                <a:latin typeface="Calibri"/>
              </a:rPr>
              <a:t>IV Percentile tells what % of past days had lower IV.</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9144000" cy="640080"/>
          </a:xfrm>
          <a:prstGeom prst="rect">
            <a:avLst/>
          </a:prstGeom>
          <a:noFill/>
        </p:spPr>
        <p:txBody>
          <a:bodyPr wrap="square">
            <a:spAutoFit/>
          </a:bodyPr>
          <a:lstStyle/>
          <a:p>
            <a:pPr algn="l"/>
            <a:r>
              <a:rPr sz="2800" b="1" i="0">
                <a:solidFill>
                  <a:srgbClr val="FFFFFF"/>
                </a:solidFill>
                <a:latin typeface="Calibri"/>
              </a:rPr>
              <a:t>OPTIONS TRADING STRATEGIES</a:t>
            </a:r>
          </a:p>
        </p:txBody>
      </p:sp>
      <p:sp>
        <p:nvSpPr>
          <p:cNvPr id="5" name="Rectangle 4"/>
          <p:cNvSpPr/>
          <p:nvPr/>
        </p:nvSpPr>
        <p:spPr>
          <a:xfrm>
            <a:off x="457200" y="960120"/>
            <a:ext cx="2560320" cy="4572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188720"/>
            <a:ext cx="3657600" cy="246888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188720"/>
            <a:ext cx="3657600" cy="73152"/>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325880"/>
            <a:ext cx="3383280" cy="369332"/>
          </a:xfrm>
          <a:prstGeom prst="rect">
            <a:avLst/>
          </a:prstGeom>
          <a:noFill/>
        </p:spPr>
        <p:txBody>
          <a:bodyPr wrap="square">
            <a:spAutoFit/>
          </a:bodyPr>
          <a:lstStyle/>
          <a:p>
            <a:pPr algn="l"/>
            <a:r>
              <a:rPr b="1" i="0" dirty="0">
                <a:solidFill>
                  <a:srgbClr val="00C9B1"/>
                </a:solidFill>
                <a:latin typeface="Calibri"/>
              </a:rPr>
              <a:t>Long Call</a:t>
            </a:r>
          </a:p>
        </p:txBody>
      </p:sp>
      <p:sp>
        <p:nvSpPr>
          <p:cNvPr id="9" name="Rectangle 8"/>
          <p:cNvSpPr/>
          <p:nvPr/>
        </p:nvSpPr>
        <p:spPr>
          <a:xfrm>
            <a:off x="502920" y="1783080"/>
            <a:ext cx="1005840" cy="3200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810512"/>
            <a:ext cx="914400" cy="338554"/>
          </a:xfrm>
          <a:prstGeom prst="rect">
            <a:avLst/>
          </a:prstGeom>
          <a:noFill/>
        </p:spPr>
        <p:txBody>
          <a:bodyPr wrap="square">
            <a:spAutoFit/>
          </a:bodyPr>
          <a:lstStyle/>
          <a:p>
            <a:pPr algn="l"/>
            <a:r>
              <a:rPr sz="1600" b="1" i="0" dirty="0">
                <a:solidFill>
                  <a:srgbClr val="00C9B1"/>
                </a:solidFill>
                <a:latin typeface="Calibri"/>
              </a:rPr>
              <a:t>Bullish</a:t>
            </a:r>
          </a:p>
        </p:txBody>
      </p:sp>
      <p:sp>
        <p:nvSpPr>
          <p:cNvPr id="11" name="TextBox 10"/>
          <p:cNvSpPr txBox="1"/>
          <p:nvPr/>
        </p:nvSpPr>
        <p:spPr>
          <a:xfrm>
            <a:off x="502920" y="2194560"/>
            <a:ext cx="3383280" cy="738664"/>
          </a:xfrm>
          <a:prstGeom prst="rect">
            <a:avLst/>
          </a:prstGeom>
          <a:noFill/>
        </p:spPr>
        <p:txBody>
          <a:bodyPr wrap="square">
            <a:spAutoFit/>
          </a:bodyPr>
          <a:lstStyle/>
          <a:p>
            <a:pPr algn="l"/>
            <a:r>
              <a:rPr sz="1400" b="0" i="0" dirty="0">
                <a:solidFill>
                  <a:srgbClr val="CCE5FF"/>
                </a:solidFill>
                <a:latin typeface="Calibri"/>
              </a:rPr>
              <a:t>Buy a call option.
Max loss = premium paid.
Unlimited upside potential.</a:t>
            </a:r>
          </a:p>
        </p:txBody>
      </p:sp>
      <p:sp>
        <p:nvSpPr>
          <p:cNvPr id="12" name="Rectangle 11"/>
          <p:cNvSpPr/>
          <p:nvPr/>
        </p:nvSpPr>
        <p:spPr>
          <a:xfrm>
            <a:off x="4297680" y="1188720"/>
            <a:ext cx="3657600" cy="246888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97680" y="1188720"/>
            <a:ext cx="3657600" cy="7315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34840" y="1325880"/>
            <a:ext cx="3383280" cy="369332"/>
          </a:xfrm>
          <a:prstGeom prst="rect">
            <a:avLst/>
          </a:prstGeom>
          <a:noFill/>
        </p:spPr>
        <p:txBody>
          <a:bodyPr wrap="square">
            <a:spAutoFit/>
          </a:bodyPr>
          <a:lstStyle/>
          <a:p>
            <a:pPr algn="l"/>
            <a:r>
              <a:rPr lang="en-IN" b="1" i="0" dirty="0">
                <a:solidFill>
                  <a:srgbClr val="F5A623"/>
                </a:solidFill>
                <a:latin typeface="Calibri"/>
              </a:rPr>
              <a:t>Long</a:t>
            </a:r>
            <a:r>
              <a:rPr lang="en-IN" sz="1600" b="1" i="0" dirty="0">
                <a:solidFill>
                  <a:srgbClr val="F5A623"/>
                </a:solidFill>
                <a:latin typeface="Calibri"/>
              </a:rPr>
              <a:t> Put</a:t>
            </a:r>
            <a:endParaRPr sz="1600" b="1" i="0" dirty="0">
              <a:solidFill>
                <a:srgbClr val="F5A623"/>
              </a:solidFill>
              <a:latin typeface="Calibri"/>
            </a:endParaRPr>
          </a:p>
        </p:txBody>
      </p:sp>
      <p:sp>
        <p:nvSpPr>
          <p:cNvPr id="15" name="Rectangle 14"/>
          <p:cNvSpPr/>
          <p:nvPr/>
        </p:nvSpPr>
        <p:spPr>
          <a:xfrm>
            <a:off x="4434840" y="1783080"/>
            <a:ext cx="1005840" cy="3200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80560" y="1810512"/>
            <a:ext cx="914400" cy="338554"/>
          </a:xfrm>
          <a:prstGeom prst="rect">
            <a:avLst/>
          </a:prstGeom>
          <a:noFill/>
        </p:spPr>
        <p:txBody>
          <a:bodyPr wrap="square">
            <a:spAutoFit/>
          </a:bodyPr>
          <a:lstStyle/>
          <a:p>
            <a:pPr algn="l"/>
            <a:r>
              <a:rPr sz="1600" b="1" i="0" dirty="0">
                <a:solidFill>
                  <a:srgbClr val="F5A623"/>
                </a:solidFill>
                <a:latin typeface="Calibri"/>
              </a:rPr>
              <a:t>Bearish</a:t>
            </a:r>
          </a:p>
        </p:txBody>
      </p:sp>
      <p:sp>
        <p:nvSpPr>
          <p:cNvPr id="17" name="TextBox 16"/>
          <p:cNvSpPr txBox="1"/>
          <p:nvPr/>
        </p:nvSpPr>
        <p:spPr>
          <a:xfrm>
            <a:off x="4434840" y="2194560"/>
            <a:ext cx="3383280" cy="738664"/>
          </a:xfrm>
          <a:prstGeom prst="rect">
            <a:avLst/>
          </a:prstGeom>
          <a:noFill/>
        </p:spPr>
        <p:txBody>
          <a:bodyPr wrap="square">
            <a:spAutoFit/>
          </a:bodyPr>
          <a:lstStyle/>
          <a:p>
            <a:pPr algn="l"/>
            <a:r>
              <a:rPr sz="1400" b="0" i="0" dirty="0">
                <a:solidFill>
                  <a:srgbClr val="CCE5FF"/>
                </a:solidFill>
                <a:latin typeface="Calibri"/>
              </a:rPr>
              <a:t>Buy a put option.
Profit when price falls.
Max loss = premium paid.</a:t>
            </a:r>
          </a:p>
        </p:txBody>
      </p:sp>
      <p:sp>
        <p:nvSpPr>
          <p:cNvPr id="18" name="Rectangle 17"/>
          <p:cNvSpPr/>
          <p:nvPr/>
        </p:nvSpPr>
        <p:spPr>
          <a:xfrm>
            <a:off x="8229600" y="1188720"/>
            <a:ext cx="3657600" cy="246888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229600" y="1188720"/>
            <a:ext cx="3657600" cy="73152"/>
          </a:xfrm>
          <a:prstGeom prst="rect">
            <a:avLst/>
          </a:prstGeom>
          <a:solidFill>
            <a:srgbClr val="64B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66760" y="1325880"/>
            <a:ext cx="3383280" cy="369332"/>
          </a:xfrm>
          <a:prstGeom prst="rect">
            <a:avLst/>
          </a:prstGeom>
          <a:noFill/>
        </p:spPr>
        <p:txBody>
          <a:bodyPr wrap="square">
            <a:spAutoFit/>
          </a:bodyPr>
          <a:lstStyle/>
          <a:p>
            <a:pPr algn="l"/>
            <a:r>
              <a:rPr b="1" i="0" dirty="0">
                <a:solidFill>
                  <a:srgbClr val="64B4F0"/>
                </a:solidFill>
                <a:latin typeface="Calibri"/>
              </a:rPr>
              <a:t>Bull Call Spread</a:t>
            </a:r>
          </a:p>
        </p:txBody>
      </p:sp>
      <p:sp>
        <p:nvSpPr>
          <p:cNvPr id="21" name="Rectangle 20"/>
          <p:cNvSpPr/>
          <p:nvPr/>
        </p:nvSpPr>
        <p:spPr>
          <a:xfrm>
            <a:off x="8366760" y="1783080"/>
            <a:ext cx="1005840" cy="3200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80" y="1810512"/>
            <a:ext cx="914400" cy="338554"/>
          </a:xfrm>
          <a:prstGeom prst="rect">
            <a:avLst/>
          </a:prstGeom>
          <a:noFill/>
        </p:spPr>
        <p:txBody>
          <a:bodyPr wrap="square">
            <a:spAutoFit/>
          </a:bodyPr>
          <a:lstStyle/>
          <a:p>
            <a:pPr algn="l"/>
            <a:r>
              <a:rPr sz="1600" b="1" i="0" dirty="0">
                <a:solidFill>
                  <a:srgbClr val="64B4F0"/>
                </a:solidFill>
                <a:latin typeface="Calibri"/>
              </a:rPr>
              <a:t>Bullish</a:t>
            </a:r>
          </a:p>
        </p:txBody>
      </p:sp>
      <p:sp>
        <p:nvSpPr>
          <p:cNvPr id="23" name="TextBox 22"/>
          <p:cNvSpPr txBox="1"/>
          <p:nvPr/>
        </p:nvSpPr>
        <p:spPr>
          <a:xfrm>
            <a:off x="8366760" y="2194560"/>
            <a:ext cx="3383280" cy="738664"/>
          </a:xfrm>
          <a:prstGeom prst="rect">
            <a:avLst/>
          </a:prstGeom>
          <a:noFill/>
        </p:spPr>
        <p:txBody>
          <a:bodyPr wrap="square">
            <a:spAutoFit/>
          </a:bodyPr>
          <a:lstStyle/>
          <a:p>
            <a:pPr algn="l"/>
            <a:r>
              <a:rPr sz="1400" b="0" i="0" dirty="0">
                <a:solidFill>
                  <a:srgbClr val="CCE5FF"/>
                </a:solidFill>
                <a:latin typeface="Calibri"/>
              </a:rPr>
              <a:t>Buy lower strike call,
sell higher strike call.
Limited risk &amp; reward.</a:t>
            </a:r>
          </a:p>
        </p:txBody>
      </p:sp>
      <p:sp>
        <p:nvSpPr>
          <p:cNvPr id="24" name="Rectangle 23"/>
          <p:cNvSpPr/>
          <p:nvPr/>
        </p:nvSpPr>
        <p:spPr>
          <a:xfrm>
            <a:off x="365760" y="3886200"/>
            <a:ext cx="3657600" cy="246888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65760" y="3886200"/>
            <a:ext cx="3657600" cy="73152"/>
          </a:xfrm>
          <a:prstGeom prst="rect">
            <a:avLst/>
          </a:prstGeom>
          <a:solidFill>
            <a:srgbClr val="C88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4023360"/>
            <a:ext cx="3383280" cy="369332"/>
          </a:xfrm>
          <a:prstGeom prst="rect">
            <a:avLst/>
          </a:prstGeom>
          <a:noFill/>
        </p:spPr>
        <p:txBody>
          <a:bodyPr wrap="square">
            <a:spAutoFit/>
          </a:bodyPr>
          <a:lstStyle/>
          <a:p>
            <a:pPr algn="l"/>
            <a:r>
              <a:rPr b="1" i="0" dirty="0">
                <a:solidFill>
                  <a:srgbClr val="C882E6"/>
                </a:solidFill>
                <a:latin typeface="Calibri"/>
              </a:rPr>
              <a:t>Bear Put Spread</a:t>
            </a:r>
          </a:p>
        </p:txBody>
      </p:sp>
      <p:sp>
        <p:nvSpPr>
          <p:cNvPr id="27" name="Rectangle 26"/>
          <p:cNvSpPr/>
          <p:nvPr/>
        </p:nvSpPr>
        <p:spPr>
          <a:xfrm>
            <a:off x="502920" y="4480560"/>
            <a:ext cx="1005840" cy="3200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48640" y="4507992"/>
            <a:ext cx="914400" cy="338554"/>
          </a:xfrm>
          <a:prstGeom prst="rect">
            <a:avLst/>
          </a:prstGeom>
          <a:noFill/>
        </p:spPr>
        <p:txBody>
          <a:bodyPr wrap="square">
            <a:spAutoFit/>
          </a:bodyPr>
          <a:lstStyle/>
          <a:p>
            <a:pPr algn="l"/>
            <a:r>
              <a:rPr sz="1600" b="1" i="0" dirty="0">
                <a:solidFill>
                  <a:srgbClr val="C882E6"/>
                </a:solidFill>
                <a:latin typeface="Calibri"/>
              </a:rPr>
              <a:t>Bearish</a:t>
            </a:r>
          </a:p>
        </p:txBody>
      </p:sp>
      <p:sp>
        <p:nvSpPr>
          <p:cNvPr id="29" name="TextBox 28"/>
          <p:cNvSpPr txBox="1"/>
          <p:nvPr/>
        </p:nvSpPr>
        <p:spPr>
          <a:xfrm>
            <a:off x="502920" y="4892040"/>
            <a:ext cx="3383280" cy="738664"/>
          </a:xfrm>
          <a:prstGeom prst="rect">
            <a:avLst/>
          </a:prstGeom>
          <a:noFill/>
        </p:spPr>
        <p:txBody>
          <a:bodyPr wrap="square">
            <a:spAutoFit/>
          </a:bodyPr>
          <a:lstStyle/>
          <a:p>
            <a:pPr algn="l"/>
            <a:r>
              <a:rPr sz="1400" b="0" i="0" dirty="0">
                <a:solidFill>
                  <a:srgbClr val="CCE5FF"/>
                </a:solidFill>
                <a:latin typeface="Calibri"/>
              </a:rPr>
              <a:t>Buy higher strike put,
sell lower strike put.
Defined risk strategy.</a:t>
            </a:r>
          </a:p>
        </p:txBody>
      </p:sp>
      <p:sp>
        <p:nvSpPr>
          <p:cNvPr id="30" name="Rectangle 29"/>
          <p:cNvSpPr/>
          <p:nvPr/>
        </p:nvSpPr>
        <p:spPr>
          <a:xfrm>
            <a:off x="4297680" y="3886200"/>
            <a:ext cx="3657600" cy="246888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297680" y="3886200"/>
            <a:ext cx="3657600" cy="73152"/>
          </a:xfrm>
          <a:prstGeom prst="rect">
            <a:avLst/>
          </a:prstGeom>
          <a:solidFill>
            <a:srgbClr val="64D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434840" y="4023360"/>
            <a:ext cx="3383280" cy="369332"/>
          </a:xfrm>
          <a:prstGeom prst="rect">
            <a:avLst/>
          </a:prstGeom>
          <a:noFill/>
        </p:spPr>
        <p:txBody>
          <a:bodyPr wrap="square">
            <a:spAutoFit/>
          </a:bodyPr>
          <a:lstStyle/>
          <a:p>
            <a:pPr algn="l"/>
            <a:r>
              <a:rPr b="1" i="0" dirty="0">
                <a:solidFill>
                  <a:srgbClr val="64DC96"/>
                </a:solidFill>
                <a:latin typeface="Calibri"/>
              </a:rPr>
              <a:t>Straddle</a:t>
            </a:r>
          </a:p>
        </p:txBody>
      </p:sp>
      <p:sp>
        <p:nvSpPr>
          <p:cNvPr id="33" name="Rectangle 32"/>
          <p:cNvSpPr/>
          <p:nvPr/>
        </p:nvSpPr>
        <p:spPr>
          <a:xfrm>
            <a:off x="4434840" y="4480560"/>
            <a:ext cx="1005840" cy="3200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480560" y="4507992"/>
            <a:ext cx="914400" cy="338554"/>
          </a:xfrm>
          <a:prstGeom prst="rect">
            <a:avLst/>
          </a:prstGeom>
          <a:noFill/>
        </p:spPr>
        <p:txBody>
          <a:bodyPr wrap="square">
            <a:spAutoFit/>
          </a:bodyPr>
          <a:lstStyle/>
          <a:p>
            <a:pPr algn="l"/>
            <a:r>
              <a:rPr sz="1600" b="1" i="0" dirty="0">
                <a:solidFill>
                  <a:srgbClr val="64DC96"/>
                </a:solidFill>
                <a:latin typeface="Calibri"/>
              </a:rPr>
              <a:t>Neutral</a:t>
            </a:r>
          </a:p>
        </p:txBody>
      </p:sp>
      <p:sp>
        <p:nvSpPr>
          <p:cNvPr id="35" name="TextBox 34"/>
          <p:cNvSpPr txBox="1"/>
          <p:nvPr/>
        </p:nvSpPr>
        <p:spPr>
          <a:xfrm>
            <a:off x="4434840" y="4892040"/>
            <a:ext cx="3383280" cy="738664"/>
          </a:xfrm>
          <a:prstGeom prst="rect">
            <a:avLst/>
          </a:prstGeom>
          <a:noFill/>
        </p:spPr>
        <p:txBody>
          <a:bodyPr wrap="square">
            <a:spAutoFit/>
          </a:bodyPr>
          <a:lstStyle/>
          <a:p>
            <a:pPr algn="l"/>
            <a:r>
              <a:rPr sz="1400" b="0" i="0" dirty="0">
                <a:solidFill>
                  <a:srgbClr val="CCE5FF"/>
                </a:solidFill>
                <a:latin typeface="Calibri"/>
              </a:rPr>
              <a:t>Buy call + put same strike.
Profits from big moves
in either direction.</a:t>
            </a:r>
          </a:p>
        </p:txBody>
      </p:sp>
      <p:sp>
        <p:nvSpPr>
          <p:cNvPr id="36" name="Rectangle 35"/>
          <p:cNvSpPr/>
          <p:nvPr/>
        </p:nvSpPr>
        <p:spPr>
          <a:xfrm>
            <a:off x="8229600" y="3886200"/>
            <a:ext cx="3657600" cy="246888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229600" y="3886200"/>
            <a:ext cx="3657600" cy="73152"/>
          </a:xfrm>
          <a:prstGeom prst="rect">
            <a:avLst/>
          </a:prstGeom>
          <a:solidFill>
            <a:srgbClr val="F08C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66760" y="4023360"/>
            <a:ext cx="3383280" cy="369332"/>
          </a:xfrm>
          <a:prstGeom prst="rect">
            <a:avLst/>
          </a:prstGeom>
          <a:noFill/>
        </p:spPr>
        <p:txBody>
          <a:bodyPr wrap="square">
            <a:spAutoFit/>
          </a:bodyPr>
          <a:lstStyle/>
          <a:p>
            <a:pPr algn="l"/>
            <a:r>
              <a:rPr b="1" i="0" dirty="0">
                <a:solidFill>
                  <a:srgbClr val="F08C50"/>
                </a:solidFill>
                <a:latin typeface="Calibri"/>
              </a:rPr>
              <a:t>Iron Condor</a:t>
            </a:r>
          </a:p>
        </p:txBody>
      </p:sp>
      <p:sp>
        <p:nvSpPr>
          <p:cNvPr id="39" name="Rectangle 38"/>
          <p:cNvSpPr/>
          <p:nvPr/>
        </p:nvSpPr>
        <p:spPr>
          <a:xfrm>
            <a:off x="8366760" y="4480560"/>
            <a:ext cx="1005840" cy="3200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412480" y="4507992"/>
            <a:ext cx="914400" cy="338554"/>
          </a:xfrm>
          <a:prstGeom prst="rect">
            <a:avLst/>
          </a:prstGeom>
          <a:noFill/>
        </p:spPr>
        <p:txBody>
          <a:bodyPr wrap="square">
            <a:spAutoFit/>
          </a:bodyPr>
          <a:lstStyle/>
          <a:p>
            <a:pPr algn="l"/>
            <a:r>
              <a:rPr sz="1600" b="1" i="0" dirty="0">
                <a:solidFill>
                  <a:srgbClr val="F08C50"/>
                </a:solidFill>
                <a:latin typeface="Calibri"/>
              </a:rPr>
              <a:t>Neutral</a:t>
            </a:r>
          </a:p>
        </p:txBody>
      </p:sp>
      <p:sp>
        <p:nvSpPr>
          <p:cNvPr id="41" name="TextBox 40"/>
          <p:cNvSpPr txBox="1"/>
          <p:nvPr/>
        </p:nvSpPr>
        <p:spPr>
          <a:xfrm>
            <a:off x="8366760" y="4892040"/>
            <a:ext cx="3383280" cy="738664"/>
          </a:xfrm>
          <a:prstGeom prst="rect">
            <a:avLst/>
          </a:prstGeom>
          <a:noFill/>
        </p:spPr>
        <p:txBody>
          <a:bodyPr wrap="square">
            <a:spAutoFit/>
          </a:bodyPr>
          <a:lstStyle/>
          <a:p>
            <a:pPr algn="l"/>
            <a:r>
              <a:rPr sz="1400" b="0" i="0" dirty="0">
                <a:solidFill>
                  <a:srgbClr val="CCE5FF"/>
                </a:solidFill>
                <a:latin typeface="Calibri"/>
              </a:rPr>
              <a:t>Sell OTM call &amp; put,
buy further OTM wings.
Profit in sideways markets.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9144000" cy="640080"/>
          </a:xfrm>
          <a:prstGeom prst="rect">
            <a:avLst/>
          </a:prstGeom>
          <a:noFill/>
        </p:spPr>
        <p:txBody>
          <a:bodyPr wrap="square">
            <a:spAutoFit/>
          </a:bodyPr>
          <a:lstStyle/>
          <a:p>
            <a:pPr algn="l"/>
            <a:r>
              <a:rPr sz="2800" b="1" i="0">
                <a:solidFill>
                  <a:srgbClr val="FFFFFF"/>
                </a:solidFill>
                <a:latin typeface="Calibri"/>
              </a:rPr>
              <a:t>RISK MANAGEMENT IN OPTIONS</a:t>
            </a:r>
          </a:p>
        </p:txBody>
      </p:sp>
      <p:sp>
        <p:nvSpPr>
          <p:cNvPr id="5" name="Rectangle 4"/>
          <p:cNvSpPr/>
          <p:nvPr/>
        </p:nvSpPr>
        <p:spPr>
          <a:xfrm>
            <a:off x="457200" y="960120"/>
            <a:ext cx="2286000" cy="4572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143000"/>
            <a:ext cx="11247120" cy="96012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143000"/>
            <a:ext cx="73152" cy="96012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85429"/>
            <a:ext cx="3200400" cy="338554"/>
          </a:xfrm>
          <a:prstGeom prst="rect">
            <a:avLst/>
          </a:prstGeom>
          <a:noFill/>
        </p:spPr>
        <p:txBody>
          <a:bodyPr wrap="square">
            <a:spAutoFit/>
          </a:bodyPr>
          <a:lstStyle/>
          <a:p>
            <a:pPr algn="l"/>
            <a:r>
              <a:rPr sz="1600" b="1" i="0" dirty="0">
                <a:solidFill>
                  <a:srgbClr val="00C9B1"/>
                </a:solidFill>
                <a:latin typeface="Calibri"/>
              </a:rPr>
              <a:t>⛔  Stop-Loss Orders</a:t>
            </a:r>
          </a:p>
        </p:txBody>
      </p:sp>
      <p:sp>
        <p:nvSpPr>
          <p:cNvPr id="9" name="TextBox 8"/>
          <p:cNvSpPr txBox="1"/>
          <p:nvPr/>
        </p:nvSpPr>
        <p:spPr>
          <a:xfrm>
            <a:off x="4114800" y="1234440"/>
            <a:ext cx="7406640" cy="523220"/>
          </a:xfrm>
          <a:prstGeom prst="rect">
            <a:avLst/>
          </a:prstGeom>
          <a:noFill/>
        </p:spPr>
        <p:txBody>
          <a:bodyPr wrap="square">
            <a:spAutoFit/>
          </a:bodyPr>
          <a:lstStyle/>
          <a:p>
            <a:pPr algn="l"/>
            <a:r>
              <a:rPr sz="1400" b="0" i="0" dirty="0">
                <a:solidFill>
                  <a:srgbClr val="CCE5FF"/>
                </a:solidFill>
                <a:latin typeface="Calibri"/>
              </a:rPr>
              <a:t>Set predefined exit levels based on dollar loss or % drop in premium. Automatically closes position to protect capital.</a:t>
            </a:r>
          </a:p>
        </p:txBody>
      </p:sp>
      <p:sp>
        <p:nvSpPr>
          <p:cNvPr id="10" name="Rectangle 9"/>
          <p:cNvSpPr/>
          <p:nvPr/>
        </p:nvSpPr>
        <p:spPr>
          <a:xfrm>
            <a:off x="457200" y="2240280"/>
            <a:ext cx="11247120" cy="96012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2240280"/>
            <a:ext cx="73152" cy="9601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2404872"/>
            <a:ext cx="3200400" cy="338554"/>
          </a:xfrm>
          <a:prstGeom prst="rect">
            <a:avLst/>
          </a:prstGeom>
          <a:noFill/>
        </p:spPr>
        <p:txBody>
          <a:bodyPr wrap="square">
            <a:spAutoFit/>
          </a:bodyPr>
          <a:lstStyle/>
          <a:p>
            <a:pPr algn="l"/>
            <a:r>
              <a:rPr sz="1600" b="1" i="0" dirty="0">
                <a:solidFill>
                  <a:srgbClr val="F5A623"/>
                </a:solidFill>
                <a:latin typeface="Calibri"/>
              </a:rPr>
              <a:t>🛡️  Delta Hedging</a:t>
            </a:r>
          </a:p>
        </p:txBody>
      </p:sp>
      <p:sp>
        <p:nvSpPr>
          <p:cNvPr id="13" name="TextBox 12"/>
          <p:cNvSpPr txBox="1"/>
          <p:nvPr/>
        </p:nvSpPr>
        <p:spPr>
          <a:xfrm>
            <a:off x="4114800" y="2331720"/>
            <a:ext cx="7406640" cy="523220"/>
          </a:xfrm>
          <a:prstGeom prst="rect">
            <a:avLst/>
          </a:prstGeom>
          <a:noFill/>
        </p:spPr>
        <p:txBody>
          <a:bodyPr wrap="square">
            <a:spAutoFit/>
          </a:bodyPr>
          <a:lstStyle/>
          <a:p>
            <a:pPr algn="l"/>
            <a:r>
              <a:rPr sz="1400" b="0" i="0" dirty="0">
                <a:solidFill>
                  <a:srgbClr val="CCE5FF"/>
                </a:solidFill>
                <a:latin typeface="Calibri"/>
              </a:rPr>
              <a:t>Maintain a delta-neutral portfolio by offsetting option deltas with underlying shares. Reduces directional exposure.</a:t>
            </a:r>
          </a:p>
        </p:txBody>
      </p:sp>
      <p:sp>
        <p:nvSpPr>
          <p:cNvPr id="14" name="Rectangle 13"/>
          <p:cNvSpPr/>
          <p:nvPr/>
        </p:nvSpPr>
        <p:spPr>
          <a:xfrm>
            <a:off x="457200" y="3337560"/>
            <a:ext cx="11247120" cy="96012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337560"/>
            <a:ext cx="73152" cy="960120"/>
          </a:xfrm>
          <a:prstGeom prst="rect">
            <a:avLst/>
          </a:prstGeom>
          <a:solidFill>
            <a:srgbClr val="64B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579989"/>
            <a:ext cx="3200400" cy="338554"/>
          </a:xfrm>
          <a:prstGeom prst="rect">
            <a:avLst/>
          </a:prstGeom>
          <a:noFill/>
        </p:spPr>
        <p:txBody>
          <a:bodyPr wrap="square">
            <a:spAutoFit/>
          </a:bodyPr>
          <a:lstStyle/>
          <a:p>
            <a:pPr algn="l"/>
            <a:r>
              <a:rPr sz="1600" b="1" i="0" dirty="0">
                <a:solidFill>
                  <a:srgbClr val="64B4F0"/>
                </a:solidFill>
                <a:latin typeface="Calibri"/>
              </a:rPr>
              <a:t>📐  Position Sizing</a:t>
            </a:r>
          </a:p>
        </p:txBody>
      </p:sp>
      <p:sp>
        <p:nvSpPr>
          <p:cNvPr id="17" name="TextBox 16"/>
          <p:cNvSpPr txBox="1"/>
          <p:nvPr/>
        </p:nvSpPr>
        <p:spPr>
          <a:xfrm>
            <a:off x="4114800" y="3429000"/>
            <a:ext cx="7406640" cy="523220"/>
          </a:xfrm>
          <a:prstGeom prst="rect">
            <a:avLst/>
          </a:prstGeom>
          <a:noFill/>
        </p:spPr>
        <p:txBody>
          <a:bodyPr wrap="square">
            <a:spAutoFit/>
          </a:bodyPr>
          <a:lstStyle/>
          <a:p>
            <a:pPr algn="l"/>
            <a:r>
              <a:rPr sz="1400" b="0" i="0" dirty="0">
                <a:solidFill>
                  <a:srgbClr val="CCE5FF"/>
                </a:solidFill>
                <a:latin typeface="Calibri"/>
              </a:rPr>
              <a:t>Never risk more than 1-2% of total capital on a single trade. Controls exposure and prevents catastrophic loss.</a:t>
            </a:r>
          </a:p>
        </p:txBody>
      </p:sp>
      <p:sp>
        <p:nvSpPr>
          <p:cNvPr id="18" name="Rectangle 17"/>
          <p:cNvSpPr/>
          <p:nvPr/>
        </p:nvSpPr>
        <p:spPr>
          <a:xfrm>
            <a:off x="457200" y="4434840"/>
            <a:ext cx="11247120" cy="96012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4434840"/>
            <a:ext cx="73152" cy="960120"/>
          </a:xfrm>
          <a:prstGeom prst="rect">
            <a:avLst/>
          </a:prstGeom>
          <a:solidFill>
            <a:srgbClr val="C88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4677269"/>
            <a:ext cx="3200400" cy="338554"/>
          </a:xfrm>
          <a:prstGeom prst="rect">
            <a:avLst/>
          </a:prstGeom>
          <a:noFill/>
        </p:spPr>
        <p:txBody>
          <a:bodyPr wrap="square">
            <a:spAutoFit/>
          </a:bodyPr>
          <a:lstStyle/>
          <a:p>
            <a:pPr algn="l"/>
            <a:r>
              <a:rPr sz="1600" b="1" i="0" dirty="0">
                <a:solidFill>
                  <a:srgbClr val="C882E6"/>
                </a:solidFill>
                <a:latin typeface="Calibri"/>
              </a:rPr>
              <a:t>⏳  Avoid Time Decay Traps</a:t>
            </a:r>
          </a:p>
        </p:txBody>
      </p:sp>
      <p:sp>
        <p:nvSpPr>
          <p:cNvPr id="21" name="TextBox 20"/>
          <p:cNvSpPr txBox="1"/>
          <p:nvPr/>
        </p:nvSpPr>
        <p:spPr>
          <a:xfrm>
            <a:off x="4114800" y="4526279"/>
            <a:ext cx="7406640" cy="307777"/>
          </a:xfrm>
          <a:prstGeom prst="rect">
            <a:avLst/>
          </a:prstGeom>
          <a:noFill/>
        </p:spPr>
        <p:txBody>
          <a:bodyPr wrap="square">
            <a:spAutoFit/>
          </a:bodyPr>
          <a:lstStyle/>
          <a:p>
            <a:pPr algn="l"/>
            <a:r>
              <a:rPr sz="1400" b="0" i="0" dirty="0">
                <a:solidFill>
                  <a:srgbClr val="CCE5FF"/>
                </a:solidFill>
                <a:latin typeface="Calibri"/>
              </a:rPr>
              <a:t>Don't hold long options close to expiration. Theta accelerates and erodes value rapidly in final days.</a:t>
            </a:r>
          </a:p>
        </p:txBody>
      </p:sp>
      <p:sp>
        <p:nvSpPr>
          <p:cNvPr id="22" name="Rectangle 21"/>
          <p:cNvSpPr/>
          <p:nvPr/>
        </p:nvSpPr>
        <p:spPr>
          <a:xfrm>
            <a:off x="457200" y="5532120"/>
            <a:ext cx="11247120" cy="96012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5532120"/>
            <a:ext cx="73152" cy="960120"/>
          </a:xfrm>
          <a:prstGeom prst="rect">
            <a:avLst/>
          </a:prstGeom>
          <a:solidFill>
            <a:srgbClr val="64D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 y="5774549"/>
            <a:ext cx="3200400" cy="338554"/>
          </a:xfrm>
          <a:prstGeom prst="rect">
            <a:avLst/>
          </a:prstGeom>
          <a:noFill/>
        </p:spPr>
        <p:txBody>
          <a:bodyPr wrap="square">
            <a:spAutoFit/>
          </a:bodyPr>
          <a:lstStyle/>
          <a:p>
            <a:pPr algn="l"/>
            <a:r>
              <a:rPr sz="1600" b="1" i="0" dirty="0">
                <a:solidFill>
                  <a:srgbClr val="64DC96"/>
                </a:solidFill>
                <a:latin typeface="Calibri"/>
              </a:rPr>
              <a:t>📊  Use Limit Orders</a:t>
            </a:r>
          </a:p>
        </p:txBody>
      </p:sp>
      <p:sp>
        <p:nvSpPr>
          <p:cNvPr id="25" name="TextBox 24"/>
          <p:cNvSpPr txBox="1"/>
          <p:nvPr/>
        </p:nvSpPr>
        <p:spPr>
          <a:xfrm>
            <a:off x="4114800" y="5623559"/>
            <a:ext cx="7406640" cy="523220"/>
          </a:xfrm>
          <a:prstGeom prst="rect">
            <a:avLst/>
          </a:prstGeom>
          <a:noFill/>
        </p:spPr>
        <p:txBody>
          <a:bodyPr wrap="square">
            <a:spAutoFit/>
          </a:bodyPr>
          <a:lstStyle/>
          <a:p>
            <a:pPr algn="l"/>
            <a:r>
              <a:rPr sz="1400" b="0" i="0" dirty="0">
                <a:solidFill>
                  <a:srgbClr val="CCE5FF"/>
                </a:solidFill>
                <a:latin typeface="Calibri"/>
              </a:rPr>
              <a:t>Minimize slippage with limit orders on entry and exit. Fast execution is critical in volatile options markets.</a:t>
            </a:r>
          </a:p>
        </p:txBody>
      </p:sp>
      <p:sp>
        <p:nvSpPr>
          <p:cNvPr id="26" name="Rectangle 25"/>
          <p:cNvSpPr/>
          <p:nvPr/>
        </p:nvSpPr>
        <p:spPr>
          <a:xfrm>
            <a:off x="457200" y="6537960"/>
            <a:ext cx="11247120" cy="228600"/>
          </a:xfrm>
          <a:prstGeom prst="rect">
            <a:avLst/>
          </a:prstGeom>
          <a:solidFill>
            <a:srgbClr val="005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6537960"/>
            <a:ext cx="11247120" cy="228600"/>
          </a:xfrm>
          <a:prstGeom prst="rect">
            <a:avLst/>
          </a:prstGeom>
          <a:noFill/>
        </p:spPr>
        <p:txBody>
          <a:bodyPr wrap="square">
            <a:spAutoFit/>
          </a:bodyPr>
          <a:lstStyle/>
          <a:p>
            <a:pPr algn="ctr"/>
            <a:r>
              <a:rPr sz="1000" b="0" i="1">
                <a:solidFill>
                  <a:srgbClr val="FFFFFF"/>
                </a:solidFill>
                <a:latin typeface="Calibri"/>
              </a:rPr>
              <a:t>"Plan the trade, trade the plan — discipline separates professional traders from gamblers."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9144000" cy="640080"/>
          </a:xfrm>
          <a:prstGeom prst="rect">
            <a:avLst/>
          </a:prstGeom>
          <a:noFill/>
        </p:spPr>
        <p:txBody>
          <a:bodyPr wrap="square">
            <a:spAutoFit/>
          </a:bodyPr>
          <a:lstStyle/>
          <a:p>
            <a:pPr algn="l"/>
            <a:r>
              <a:rPr sz="3200" b="1" i="0" dirty="0">
                <a:solidFill>
                  <a:srgbClr val="FFFFFF"/>
                </a:solidFill>
                <a:latin typeface="Calibri"/>
              </a:rPr>
              <a:t>KEY TAKEAWAYS</a:t>
            </a:r>
          </a:p>
        </p:txBody>
      </p:sp>
      <p:sp>
        <p:nvSpPr>
          <p:cNvPr id="5" name="Rectangle 4"/>
          <p:cNvSpPr/>
          <p:nvPr/>
        </p:nvSpPr>
        <p:spPr>
          <a:xfrm>
            <a:off x="457200" y="960120"/>
            <a:ext cx="1645920" cy="4572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143000"/>
            <a:ext cx="5577840" cy="150876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143000"/>
            <a:ext cx="73152" cy="150876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252728"/>
            <a:ext cx="548640" cy="548640"/>
          </a:xfrm>
          <a:prstGeom prst="rect">
            <a:avLst/>
          </a:prstGeom>
          <a:noFill/>
        </p:spPr>
        <p:txBody>
          <a:bodyPr wrap="square">
            <a:spAutoFit/>
          </a:bodyPr>
          <a:lstStyle/>
          <a:p>
            <a:pPr algn="l"/>
            <a:r>
              <a:rPr sz="2400" b="1" i="0" dirty="0">
                <a:solidFill>
                  <a:srgbClr val="00C9B1"/>
                </a:solidFill>
                <a:latin typeface="Calibri"/>
              </a:rPr>
              <a:t>01</a:t>
            </a:r>
          </a:p>
        </p:txBody>
      </p:sp>
      <p:sp>
        <p:nvSpPr>
          <p:cNvPr id="9" name="TextBox 8"/>
          <p:cNvSpPr txBox="1"/>
          <p:nvPr/>
        </p:nvSpPr>
        <p:spPr>
          <a:xfrm>
            <a:off x="1234440" y="1325880"/>
            <a:ext cx="4663440" cy="584775"/>
          </a:xfrm>
          <a:prstGeom prst="rect">
            <a:avLst/>
          </a:prstGeom>
          <a:noFill/>
        </p:spPr>
        <p:txBody>
          <a:bodyPr wrap="square">
            <a:spAutoFit/>
          </a:bodyPr>
          <a:lstStyle/>
          <a:p>
            <a:pPr algn="l"/>
            <a:r>
              <a:rPr sz="1600" b="0" i="0" dirty="0">
                <a:solidFill>
                  <a:srgbClr val="CCE5FF"/>
                </a:solidFill>
                <a:latin typeface="Calibri"/>
              </a:rPr>
              <a:t>Options price = Intrinsic Value + Time Value. Master both components.</a:t>
            </a:r>
          </a:p>
        </p:txBody>
      </p:sp>
      <p:sp>
        <p:nvSpPr>
          <p:cNvPr id="10" name="Rectangle 9"/>
          <p:cNvSpPr/>
          <p:nvPr/>
        </p:nvSpPr>
        <p:spPr>
          <a:xfrm>
            <a:off x="6309360" y="1143000"/>
            <a:ext cx="5577840" cy="150876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1143000"/>
            <a:ext cx="73152" cy="15087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1252728"/>
            <a:ext cx="548640" cy="548640"/>
          </a:xfrm>
          <a:prstGeom prst="rect">
            <a:avLst/>
          </a:prstGeom>
          <a:noFill/>
        </p:spPr>
        <p:txBody>
          <a:bodyPr wrap="square">
            <a:spAutoFit/>
          </a:bodyPr>
          <a:lstStyle/>
          <a:p>
            <a:pPr algn="l"/>
            <a:r>
              <a:rPr sz="2400" b="1" i="0">
                <a:solidFill>
                  <a:srgbClr val="F5A623"/>
                </a:solidFill>
                <a:latin typeface="Calibri"/>
              </a:rPr>
              <a:t>02</a:t>
            </a:r>
          </a:p>
        </p:txBody>
      </p:sp>
      <p:sp>
        <p:nvSpPr>
          <p:cNvPr id="13" name="TextBox 12"/>
          <p:cNvSpPr txBox="1"/>
          <p:nvPr/>
        </p:nvSpPr>
        <p:spPr>
          <a:xfrm>
            <a:off x="7086600" y="1325880"/>
            <a:ext cx="4663440" cy="584775"/>
          </a:xfrm>
          <a:prstGeom prst="rect">
            <a:avLst/>
          </a:prstGeom>
          <a:noFill/>
        </p:spPr>
        <p:txBody>
          <a:bodyPr wrap="square">
            <a:spAutoFit/>
          </a:bodyPr>
          <a:lstStyle/>
          <a:p>
            <a:pPr algn="l"/>
            <a:r>
              <a:rPr sz="1600" b="0" i="0" dirty="0">
                <a:solidFill>
                  <a:srgbClr val="CCE5FF"/>
                </a:solidFill>
                <a:latin typeface="Calibri"/>
              </a:rPr>
              <a:t>The Greeks (Δ Γ Θ V ρ) are your compass — always know your exposures.</a:t>
            </a:r>
          </a:p>
        </p:txBody>
      </p:sp>
      <p:sp>
        <p:nvSpPr>
          <p:cNvPr id="14" name="Rectangle 13"/>
          <p:cNvSpPr/>
          <p:nvPr/>
        </p:nvSpPr>
        <p:spPr>
          <a:xfrm>
            <a:off x="457200" y="2834640"/>
            <a:ext cx="5577840" cy="150876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834640"/>
            <a:ext cx="73152" cy="1508760"/>
          </a:xfrm>
          <a:prstGeom prst="rect">
            <a:avLst/>
          </a:prstGeom>
          <a:solidFill>
            <a:srgbClr val="64B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2944368"/>
            <a:ext cx="548640" cy="548640"/>
          </a:xfrm>
          <a:prstGeom prst="rect">
            <a:avLst/>
          </a:prstGeom>
          <a:noFill/>
        </p:spPr>
        <p:txBody>
          <a:bodyPr wrap="square">
            <a:spAutoFit/>
          </a:bodyPr>
          <a:lstStyle/>
          <a:p>
            <a:pPr algn="l"/>
            <a:r>
              <a:rPr sz="2400" b="1" i="0">
                <a:solidFill>
                  <a:srgbClr val="64B4F0"/>
                </a:solidFill>
                <a:latin typeface="Calibri"/>
              </a:rPr>
              <a:t>03</a:t>
            </a:r>
          </a:p>
        </p:txBody>
      </p:sp>
      <p:sp>
        <p:nvSpPr>
          <p:cNvPr id="17" name="TextBox 16"/>
          <p:cNvSpPr txBox="1"/>
          <p:nvPr/>
        </p:nvSpPr>
        <p:spPr>
          <a:xfrm>
            <a:off x="1234440" y="3017520"/>
            <a:ext cx="4663440" cy="584775"/>
          </a:xfrm>
          <a:prstGeom prst="rect">
            <a:avLst/>
          </a:prstGeom>
          <a:noFill/>
        </p:spPr>
        <p:txBody>
          <a:bodyPr wrap="square">
            <a:spAutoFit/>
          </a:bodyPr>
          <a:lstStyle/>
          <a:p>
            <a:pPr algn="l"/>
            <a:r>
              <a:rPr sz="1600" b="0" i="0" dirty="0">
                <a:solidFill>
                  <a:srgbClr val="CCE5FF"/>
                </a:solidFill>
                <a:latin typeface="Calibri"/>
              </a:rPr>
              <a:t>Black-Scholes is the foundation; implied volatility is its most vital input.</a:t>
            </a:r>
          </a:p>
        </p:txBody>
      </p:sp>
      <p:sp>
        <p:nvSpPr>
          <p:cNvPr id="18" name="Rectangle 17"/>
          <p:cNvSpPr/>
          <p:nvPr/>
        </p:nvSpPr>
        <p:spPr>
          <a:xfrm>
            <a:off x="6309360" y="2834640"/>
            <a:ext cx="5577840" cy="150876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09360" y="2834640"/>
            <a:ext cx="73152" cy="1508760"/>
          </a:xfrm>
          <a:prstGeom prst="rect">
            <a:avLst/>
          </a:prstGeom>
          <a:solidFill>
            <a:srgbClr val="C88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0" y="2944368"/>
            <a:ext cx="548640" cy="548640"/>
          </a:xfrm>
          <a:prstGeom prst="rect">
            <a:avLst/>
          </a:prstGeom>
          <a:noFill/>
        </p:spPr>
        <p:txBody>
          <a:bodyPr wrap="square">
            <a:spAutoFit/>
          </a:bodyPr>
          <a:lstStyle/>
          <a:p>
            <a:pPr algn="l"/>
            <a:r>
              <a:rPr sz="2400" b="1" i="0">
                <a:solidFill>
                  <a:srgbClr val="C882E6"/>
                </a:solidFill>
                <a:latin typeface="Calibri"/>
              </a:rPr>
              <a:t>04</a:t>
            </a:r>
          </a:p>
        </p:txBody>
      </p:sp>
      <p:sp>
        <p:nvSpPr>
          <p:cNvPr id="21" name="TextBox 20"/>
          <p:cNvSpPr txBox="1"/>
          <p:nvPr/>
        </p:nvSpPr>
        <p:spPr>
          <a:xfrm>
            <a:off x="7086600" y="3017520"/>
            <a:ext cx="4663440" cy="584775"/>
          </a:xfrm>
          <a:prstGeom prst="rect">
            <a:avLst/>
          </a:prstGeom>
          <a:noFill/>
        </p:spPr>
        <p:txBody>
          <a:bodyPr wrap="square">
            <a:spAutoFit/>
          </a:bodyPr>
          <a:lstStyle/>
          <a:p>
            <a:pPr algn="l"/>
            <a:r>
              <a:rPr sz="1600" b="0" i="0" dirty="0">
                <a:solidFill>
                  <a:srgbClr val="CCE5FF"/>
                </a:solidFill>
                <a:latin typeface="Calibri"/>
              </a:rPr>
              <a:t>IV Rank guides strategy choice: high IV → sell, low IV → buy options.</a:t>
            </a:r>
          </a:p>
        </p:txBody>
      </p:sp>
      <p:sp>
        <p:nvSpPr>
          <p:cNvPr id="22" name="Rectangle 21"/>
          <p:cNvSpPr/>
          <p:nvPr/>
        </p:nvSpPr>
        <p:spPr>
          <a:xfrm>
            <a:off x="457200" y="4526280"/>
            <a:ext cx="5577840" cy="150876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4526280"/>
            <a:ext cx="73152" cy="1508760"/>
          </a:xfrm>
          <a:prstGeom prst="rect">
            <a:avLst/>
          </a:prstGeom>
          <a:solidFill>
            <a:srgbClr val="64D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4636008"/>
            <a:ext cx="548640" cy="548640"/>
          </a:xfrm>
          <a:prstGeom prst="rect">
            <a:avLst/>
          </a:prstGeom>
          <a:noFill/>
        </p:spPr>
        <p:txBody>
          <a:bodyPr wrap="square">
            <a:spAutoFit/>
          </a:bodyPr>
          <a:lstStyle/>
          <a:p>
            <a:pPr algn="l"/>
            <a:r>
              <a:rPr sz="2400" b="1" i="0">
                <a:solidFill>
                  <a:srgbClr val="64DC96"/>
                </a:solidFill>
                <a:latin typeface="Calibri"/>
              </a:rPr>
              <a:t>05</a:t>
            </a:r>
          </a:p>
        </p:txBody>
      </p:sp>
      <p:sp>
        <p:nvSpPr>
          <p:cNvPr id="25" name="TextBox 24"/>
          <p:cNvSpPr txBox="1"/>
          <p:nvPr/>
        </p:nvSpPr>
        <p:spPr>
          <a:xfrm>
            <a:off x="1234440" y="4709160"/>
            <a:ext cx="4663440" cy="584775"/>
          </a:xfrm>
          <a:prstGeom prst="rect">
            <a:avLst/>
          </a:prstGeom>
          <a:noFill/>
        </p:spPr>
        <p:txBody>
          <a:bodyPr wrap="square">
            <a:spAutoFit/>
          </a:bodyPr>
          <a:lstStyle/>
          <a:p>
            <a:pPr algn="l"/>
            <a:r>
              <a:rPr sz="1600" b="0" i="0" dirty="0">
                <a:solidFill>
                  <a:srgbClr val="CCE5FF"/>
                </a:solidFill>
                <a:latin typeface="Calibri"/>
              </a:rPr>
              <a:t>Match strategy to market bias: directional, neutral, or volatility plays.</a:t>
            </a:r>
          </a:p>
        </p:txBody>
      </p:sp>
      <p:sp>
        <p:nvSpPr>
          <p:cNvPr id="26" name="Rectangle 25"/>
          <p:cNvSpPr/>
          <p:nvPr/>
        </p:nvSpPr>
        <p:spPr>
          <a:xfrm>
            <a:off x="6309360" y="4526280"/>
            <a:ext cx="5577840" cy="150876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309360" y="4526280"/>
            <a:ext cx="73152" cy="1508760"/>
          </a:xfrm>
          <a:prstGeom prst="rect">
            <a:avLst/>
          </a:prstGeom>
          <a:solidFill>
            <a:srgbClr val="F08C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92240" y="4636008"/>
            <a:ext cx="548640" cy="548640"/>
          </a:xfrm>
          <a:prstGeom prst="rect">
            <a:avLst/>
          </a:prstGeom>
          <a:noFill/>
        </p:spPr>
        <p:txBody>
          <a:bodyPr wrap="square">
            <a:spAutoFit/>
          </a:bodyPr>
          <a:lstStyle/>
          <a:p>
            <a:pPr algn="l"/>
            <a:r>
              <a:rPr sz="2400" b="1" i="0">
                <a:solidFill>
                  <a:srgbClr val="F08C50"/>
                </a:solidFill>
                <a:latin typeface="Calibri"/>
              </a:rPr>
              <a:t>06</a:t>
            </a:r>
          </a:p>
        </p:txBody>
      </p:sp>
      <p:sp>
        <p:nvSpPr>
          <p:cNvPr id="29" name="TextBox 28"/>
          <p:cNvSpPr txBox="1"/>
          <p:nvPr/>
        </p:nvSpPr>
        <p:spPr>
          <a:xfrm>
            <a:off x="7086600" y="4709160"/>
            <a:ext cx="4663440" cy="584775"/>
          </a:xfrm>
          <a:prstGeom prst="rect">
            <a:avLst/>
          </a:prstGeom>
          <a:noFill/>
        </p:spPr>
        <p:txBody>
          <a:bodyPr wrap="square">
            <a:spAutoFit/>
          </a:bodyPr>
          <a:lstStyle/>
          <a:p>
            <a:pPr algn="l"/>
            <a:r>
              <a:rPr sz="1600" b="0" i="0" dirty="0">
                <a:solidFill>
                  <a:srgbClr val="CCE5FF"/>
                </a:solidFill>
                <a:latin typeface="Calibri"/>
              </a:rPr>
              <a:t>Risk management is non-negotiable. Size positions. Use stops. Hedge.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7"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274320" cy="68580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024128"/>
            <a:ext cx="4846320" cy="64008"/>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36776"/>
            <a:ext cx="8833104" cy="2862322"/>
          </a:xfrm>
          <a:prstGeom prst="rect">
            <a:avLst/>
          </a:prstGeom>
          <a:noFill/>
        </p:spPr>
        <p:txBody>
          <a:bodyPr wrap="square">
            <a:spAutoFit/>
          </a:bodyPr>
          <a:lstStyle/>
          <a:p>
            <a:pPr marL="342900" indent="-342900">
              <a:buFont typeface="Wingdings" panose="05000000000000000000" pitchFamily="2" charset="2"/>
              <a:buChar char="§"/>
            </a:pPr>
            <a:r>
              <a:rPr lang="en-US" sz="2000" b="1" dirty="0">
                <a:solidFill>
                  <a:schemeClr val="bg1">
                    <a:lumMod val="85000"/>
                  </a:schemeClr>
                </a:solidFill>
              </a:rPr>
              <a:t>Options pricing is a science, not a guess</a:t>
            </a:r>
          </a:p>
          <a:p>
            <a:pPr marL="342900" indent="-342900">
              <a:buFont typeface="Wingdings" panose="05000000000000000000" pitchFamily="2" charset="2"/>
              <a:buChar char="§"/>
            </a:pPr>
            <a:endParaRPr lang="en-US" sz="2000" b="1" dirty="0">
              <a:solidFill>
                <a:schemeClr val="bg1">
                  <a:lumMod val="85000"/>
                </a:schemeClr>
              </a:solidFill>
            </a:endParaRPr>
          </a:p>
          <a:p>
            <a:pPr marL="342900" indent="-342900">
              <a:buFont typeface="Wingdings" panose="05000000000000000000" pitchFamily="2" charset="2"/>
              <a:buChar char="§"/>
            </a:pPr>
            <a:r>
              <a:rPr lang="en-US" sz="2000" b="1" dirty="0">
                <a:solidFill>
                  <a:schemeClr val="bg1">
                    <a:lumMod val="85000"/>
                  </a:schemeClr>
                </a:solidFill>
              </a:rPr>
              <a:t>The Greeks are your real-time dashboard</a:t>
            </a:r>
            <a:r>
              <a:rPr lang="en-US" sz="2000" dirty="0">
                <a:solidFill>
                  <a:schemeClr val="bg1">
                    <a:lumMod val="85000"/>
                  </a:schemeClr>
                </a:solidFill>
              </a:rPr>
              <a:t> </a:t>
            </a:r>
          </a:p>
          <a:p>
            <a:pPr marL="342900" indent="-342900">
              <a:buFont typeface="Wingdings" panose="05000000000000000000" pitchFamily="2" charset="2"/>
              <a:buChar char="§"/>
            </a:pPr>
            <a:endParaRPr lang="en-US" sz="2000" dirty="0">
              <a:solidFill>
                <a:schemeClr val="bg1">
                  <a:lumMod val="85000"/>
                </a:schemeClr>
              </a:solidFill>
            </a:endParaRPr>
          </a:p>
          <a:p>
            <a:pPr marL="342900" indent="-342900">
              <a:buFont typeface="Wingdings" panose="05000000000000000000" pitchFamily="2" charset="2"/>
              <a:buChar char="§"/>
            </a:pPr>
            <a:r>
              <a:rPr lang="en-US" sz="2000" b="1" dirty="0">
                <a:solidFill>
                  <a:schemeClr val="bg1">
                    <a:lumMod val="85000"/>
                  </a:schemeClr>
                </a:solidFill>
              </a:rPr>
              <a:t>Implied Volatility is the heartbeat of options pricing</a:t>
            </a:r>
          </a:p>
          <a:p>
            <a:pPr marL="342900" indent="-342900">
              <a:buFont typeface="Wingdings" panose="05000000000000000000" pitchFamily="2" charset="2"/>
              <a:buChar char="§"/>
            </a:pPr>
            <a:endParaRPr lang="en-US" sz="2000" b="1" dirty="0">
              <a:solidFill>
                <a:schemeClr val="bg1">
                  <a:lumMod val="85000"/>
                </a:schemeClr>
              </a:solidFill>
            </a:endParaRPr>
          </a:p>
          <a:p>
            <a:pPr marL="342900" indent="-342900">
              <a:buFont typeface="Wingdings" panose="05000000000000000000" pitchFamily="2" charset="2"/>
              <a:buChar char="§"/>
            </a:pPr>
            <a:r>
              <a:rPr lang="en-US" sz="2000" b="1" dirty="0">
                <a:solidFill>
                  <a:schemeClr val="bg1">
                    <a:lumMod val="85000"/>
                  </a:schemeClr>
                </a:solidFill>
              </a:rPr>
              <a:t>Strategy selection must match your market outlook</a:t>
            </a:r>
          </a:p>
          <a:p>
            <a:pPr marL="342900" indent="-342900">
              <a:buFont typeface="Wingdings" panose="05000000000000000000" pitchFamily="2" charset="2"/>
              <a:buChar char="§"/>
            </a:pPr>
            <a:endParaRPr lang="en-US" sz="2000" b="1" dirty="0">
              <a:solidFill>
                <a:schemeClr val="bg1">
                  <a:lumMod val="85000"/>
                </a:schemeClr>
              </a:solidFill>
            </a:endParaRPr>
          </a:p>
          <a:p>
            <a:pPr marL="342900" indent="-342900">
              <a:buFont typeface="Wingdings" panose="05000000000000000000" pitchFamily="2" charset="2"/>
              <a:buChar char="§"/>
            </a:pPr>
            <a:r>
              <a:rPr lang="en-US" sz="2000" b="1" dirty="0">
                <a:solidFill>
                  <a:schemeClr val="bg1">
                    <a:lumMod val="85000"/>
                  </a:schemeClr>
                </a:solidFill>
              </a:rPr>
              <a:t>Discipline and risk management are the true edge</a:t>
            </a:r>
            <a:r>
              <a:rPr lang="en-US" sz="2000" dirty="0">
                <a:solidFill>
                  <a:schemeClr val="bg1">
                    <a:lumMod val="85000"/>
                  </a:schemeClr>
                </a:solidFill>
              </a:rPr>
              <a:t> </a:t>
            </a:r>
            <a:endParaRPr sz="2000" b="0" i="1" dirty="0">
              <a:solidFill>
                <a:schemeClr val="bg1">
                  <a:lumMod val="85000"/>
                </a:schemeClr>
              </a:solidFill>
              <a:latin typeface="Calibri"/>
            </a:endParaRPr>
          </a:p>
        </p:txBody>
      </p:sp>
      <p:sp>
        <p:nvSpPr>
          <p:cNvPr id="12" name="Rectangle 11">
            <a:extLst>
              <a:ext uri="{FF2B5EF4-FFF2-40B4-BE49-F238E27FC236}">
                <a16:creationId xmlns:a16="http://schemas.microsoft.com/office/drawing/2014/main" id="{80B381FF-6F9B-A718-08E5-2BC4D5D574D3}"/>
              </a:ext>
            </a:extLst>
          </p:cNvPr>
          <p:cNvSpPr/>
          <p:nvPr/>
        </p:nvSpPr>
        <p:spPr>
          <a:xfrm>
            <a:off x="274320" y="0"/>
            <a:ext cx="11914632" cy="100584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TextBox 12">
            <a:extLst>
              <a:ext uri="{FF2B5EF4-FFF2-40B4-BE49-F238E27FC236}">
                <a16:creationId xmlns:a16="http://schemas.microsoft.com/office/drawing/2014/main" id="{6FFCF540-3175-B218-B9DD-C61CF4EAE36F}"/>
              </a:ext>
            </a:extLst>
          </p:cNvPr>
          <p:cNvSpPr txBox="1"/>
          <p:nvPr/>
        </p:nvSpPr>
        <p:spPr>
          <a:xfrm>
            <a:off x="512064" y="457200"/>
            <a:ext cx="5038344" cy="584775"/>
          </a:xfrm>
          <a:prstGeom prst="rect">
            <a:avLst/>
          </a:prstGeom>
          <a:noFill/>
        </p:spPr>
        <p:txBody>
          <a:bodyPr wrap="square" rtlCol="0">
            <a:spAutoFit/>
          </a:bodyPr>
          <a:lstStyle/>
          <a:p>
            <a:r>
              <a:rPr lang="en-IN" sz="3200" b="1" dirty="0">
                <a:solidFill>
                  <a:schemeClr val="bg1"/>
                </a:solidFill>
              </a:rPr>
              <a:t>CONCLUSION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C865E-D9E4-7319-366C-6B063E6083D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A4C5010-93A6-2449-2119-E3A208F65B4C}"/>
              </a:ext>
            </a:extLst>
          </p:cNvPr>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4784003A-969C-7550-91C9-A6AED74F3419}"/>
              </a:ext>
            </a:extLst>
          </p:cNvPr>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731D94E6-D8C5-B0E6-D1B2-C233385284A3}"/>
              </a:ext>
            </a:extLst>
          </p:cNvPr>
          <p:cNvSpPr/>
          <p:nvPr/>
        </p:nvSpPr>
        <p:spPr>
          <a:xfrm>
            <a:off x="0" y="0"/>
            <a:ext cx="274320" cy="68580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E997138B-5987-89AA-5B56-350458F96CD0}"/>
              </a:ext>
            </a:extLst>
          </p:cNvPr>
          <p:cNvSpPr/>
          <p:nvPr/>
        </p:nvSpPr>
        <p:spPr>
          <a:xfrm>
            <a:off x="274320" y="1024128"/>
            <a:ext cx="4846320" cy="64008"/>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44BC37FA-0BCB-77AB-F8E9-A2050CBB93A0}"/>
              </a:ext>
            </a:extLst>
          </p:cNvPr>
          <p:cNvSpPr/>
          <p:nvPr/>
        </p:nvSpPr>
        <p:spPr>
          <a:xfrm>
            <a:off x="274320" y="0"/>
            <a:ext cx="11914632" cy="1005840"/>
          </a:xfrm>
          <a:prstGeom prst="rect">
            <a:avLst/>
          </a:prstGeom>
          <a:solidFill>
            <a:srgbClr val="1B2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TextBox 12">
            <a:extLst>
              <a:ext uri="{FF2B5EF4-FFF2-40B4-BE49-F238E27FC236}">
                <a16:creationId xmlns:a16="http://schemas.microsoft.com/office/drawing/2014/main" id="{3EE1768C-DA5C-A335-505F-6692CC974F33}"/>
              </a:ext>
            </a:extLst>
          </p:cNvPr>
          <p:cNvSpPr txBox="1"/>
          <p:nvPr/>
        </p:nvSpPr>
        <p:spPr>
          <a:xfrm>
            <a:off x="512064" y="457200"/>
            <a:ext cx="5038344" cy="584775"/>
          </a:xfrm>
          <a:prstGeom prst="rect">
            <a:avLst/>
          </a:prstGeom>
          <a:noFill/>
        </p:spPr>
        <p:txBody>
          <a:bodyPr wrap="square" rtlCol="0">
            <a:spAutoFit/>
          </a:bodyPr>
          <a:lstStyle/>
          <a:p>
            <a:r>
              <a:rPr lang="en-IN" sz="3200" b="1" dirty="0">
                <a:solidFill>
                  <a:schemeClr val="bg1"/>
                </a:solidFill>
              </a:rPr>
              <a:t>KEY REFERENCES</a:t>
            </a:r>
          </a:p>
        </p:txBody>
      </p:sp>
      <p:sp>
        <p:nvSpPr>
          <p:cNvPr id="9" name="TextBox 8">
            <a:extLst>
              <a:ext uri="{FF2B5EF4-FFF2-40B4-BE49-F238E27FC236}">
                <a16:creationId xmlns:a16="http://schemas.microsoft.com/office/drawing/2014/main" id="{D427FED0-F2E0-31D9-0E6D-33345F22F9B0}"/>
              </a:ext>
            </a:extLst>
          </p:cNvPr>
          <p:cNvSpPr txBox="1"/>
          <p:nvPr/>
        </p:nvSpPr>
        <p:spPr>
          <a:xfrm>
            <a:off x="349898" y="1356945"/>
            <a:ext cx="11574624" cy="449353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bg1">
                    <a:lumMod val="85000"/>
                  </a:schemeClr>
                </a:solidFill>
                <a:effectLst/>
                <a:latin typeface="+mj-lt"/>
              </a:rPr>
              <a:t>Black, F., &amp; Scholes, M. (1973)</a:t>
            </a:r>
            <a:r>
              <a:rPr kumimoji="0" lang="en-US" altLang="en-US" b="0" i="0" u="none" strike="noStrike" cap="none" normalizeH="0" baseline="0" dirty="0">
                <a:ln>
                  <a:noFill/>
                </a:ln>
                <a:solidFill>
                  <a:schemeClr val="bg1">
                    <a:lumMod val="85000"/>
                  </a:schemeClr>
                </a:solidFill>
                <a:effectLst/>
                <a:latin typeface="+mj-lt"/>
              </a:rPr>
              <a:t> </a:t>
            </a:r>
            <a:r>
              <a:rPr kumimoji="0" lang="en-US" altLang="en-US" sz="1400" b="0" i="0" u="none" strike="noStrike" cap="none" normalizeH="0" baseline="0" dirty="0">
                <a:ln>
                  <a:noFill/>
                </a:ln>
                <a:solidFill>
                  <a:schemeClr val="bg1">
                    <a:lumMod val="85000"/>
                  </a:schemeClr>
                </a:solidFill>
                <a:effectLst/>
                <a:latin typeface="+mj-lt"/>
              </a:rPr>
              <a:t>— </a:t>
            </a:r>
            <a:r>
              <a:rPr kumimoji="0" lang="en-US" altLang="en-US" sz="1400" b="0" i="1" u="none" strike="noStrike" cap="none" normalizeH="0" baseline="0" dirty="0">
                <a:ln>
                  <a:noFill/>
                </a:ln>
                <a:solidFill>
                  <a:schemeClr val="bg1">
                    <a:lumMod val="85000"/>
                  </a:schemeClr>
                </a:solidFill>
                <a:effectLst/>
                <a:latin typeface="+mj-lt"/>
              </a:rPr>
              <a:t>"</a:t>
            </a:r>
            <a:r>
              <a:rPr kumimoji="0" lang="en-US" altLang="en-US" sz="1600" b="0" i="1" u="none" strike="noStrike" cap="none" normalizeH="0" baseline="0" dirty="0">
                <a:ln>
                  <a:noFill/>
                </a:ln>
                <a:solidFill>
                  <a:schemeClr val="bg1">
                    <a:lumMod val="85000"/>
                  </a:schemeClr>
                </a:solidFill>
                <a:effectLst/>
                <a:latin typeface="+mj-lt"/>
              </a:rPr>
              <a:t>The Pricing of Options and Corporate Liabilities</a:t>
            </a:r>
            <a:r>
              <a:rPr kumimoji="0" lang="en-US" altLang="en-US" sz="1400" b="0" i="1" u="none" strike="noStrike" cap="none" normalizeH="0" baseline="0" dirty="0">
                <a:ln>
                  <a:noFill/>
                </a:ln>
                <a:solidFill>
                  <a:schemeClr val="bg1">
                    <a:lumMod val="85000"/>
                  </a:schemeClr>
                </a:solidFill>
                <a:effectLst/>
                <a:latin typeface="+mj-lt"/>
              </a:rPr>
              <a:t>"</a:t>
            </a:r>
            <a:r>
              <a:rPr kumimoji="0" lang="en-US" altLang="en-US" sz="1400" b="0" i="0" u="none" strike="noStrike" cap="none" normalizeH="0" baseline="0" dirty="0">
                <a:ln>
                  <a:noFill/>
                </a:ln>
                <a:solidFill>
                  <a:schemeClr val="bg1">
                    <a:lumMod val="85000"/>
                  </a:schemeClr>
                </a:solidFill>
                <a:effectLst/>
                <a:latin typeface="+mj-lt"/>
              </a:rPr>
              <a:t> — Journal of Political Economy, Vol. 81, No. 3, pp. 637–654. The original Nobel Prize-winning paper that introduced the Black-Scholes model and became the cornerstone of modern derivatives pricing theory worldwide.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bg1">
                  <a:lumMod val="85000"/>
                </a:schemeClr>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bg1">
                    <a:lumMod val="85000"/>
                  </a:schemeClr>
                </a:solidFill>
                <a:effectLst/>
                <a:latin typeface="+mj-lt"/>
              </a:rPr>
              <a:t>Hull, J. C. (2022)</a:t>
            </a:r>
            <a:r>
              <a:rPr kumimoji="0" lang="en-US" altLang="en-US" b="0" i="0" u="none" strike="noStrike" cap="none" normalizeH="0" baseline="0" dirty="0">
                <a:ln>
                  <a:noFill/>
                </a:ln>
                <a:solidFill>
                  <a:schemeClr val="bg1">
                    <a:lumMod val="85000"/>
                  </a:schemeClr>
                </a:solidFill>
                <a:effectLst/>
                <a:latin typeface="+mj-lt"/>
              </a:rPr>
              <a:t> </a:t>
            </a:r>
            <a:r>
              <a:rPr kumimoji="0" lang="en-US" altLang="en-US" sz="1400" b="0" i="0" u="none" strike="noStrike" cap="none" normalizeH="0" baseline="0" dirty="0">
                <a:ln>
                  <a:noFill/>
                </a:ln>
                <a:solidFill>
                  <a:schemeClr val="bg1">
                    <a:lumMod val="85000"/>
                  </a:schemeClr>
                </a:solidFill>
                <a:effectLst/>
                <a:latin typeface="+mj-lt"/>
              </a:rPr>
              <a:t>— </a:t>
            </a:r>
            <a:r>
              <a:rPr kumimoji="0" lang="en-US" altLang="en-US" sz="1400" b="0" i="1" u="none" strike="noStrike" cap="none" normalizeH="0" baseline="0" dirty="0">
                <a:ln>
                  <a:noFill/>
                </a:ln>
                <a:solidFill>
                  <a:schemeClr val="bg1">
                    <a:lumMod val="85000"/>
                  </a:schemeClr>
                </a:solidFill>
                <a:effectLst/>
                <a:latin typeface="+mj-lt"/>
              </a:rPr>
              <a:t>"</a:t>
            </a:r>
            <a:r>
              <a:rPr kumimoji="0" lang="en-US" altLang="en-US" sz="1600" b="0" i="1" u="none" strike="noStrike" cap="none" normalizeH="0" baseline="0" dirty="0">
                <a:ln>
                  <a:noFill/>
                </a:ln>
                <a:solidFill>
                  <a:schemeClr val="bg1">
                    <a:lumMod val="85000"/>
                  </a:schemeClr>
                </a:solidFill>
                <a:effectLst/>
                <a:latin typeface="+mj-lt"/>
              </a:rPr>
              <a:t>Options, Futures, and Other Derivatives</a:t>
            </a:r>
            <a:r>
              <a:rPr kumimoji="0" lang="en-US" altLang="en-US" sz="1400" b="0" i="1" u="none" strike="noStrike" cap="none" normalizeH="0" baseline="0" dirty="0">
                <a:ln>
                  <a:noFill/>
                </a:ln>
                <a:solidFill>
                  <a:schemeClr val="bg1">
                    <a:lumMod val="85000"/>
                  </a:schemeClr>
                </a:solidFill>
                <a:effectLst/>
                <a:latin typeface="+mj-lt"/>
              </a:rPr>
              <a:t>"</a:t>
            </a:r>
            <a:r>
              <a:rPr kumimoji="0" lang="en-US" altLang="en-US" sz="1400" b="0" i="0" u="none" strike="noStrike" cap="none" normalizeH="0" baseline="0" dirty="0">
                <a:ln>
                  <a:noFill/>
                </a:ln>
                <a:solidFill>
                  <a:schemeClr val="bg1">
                    <a:lumMod val="85000"/>
                  </a:schemeClr>
                </a:solidFill>
                <a:effectLst/>
                <a:latin typeface="+mj-lt"/>
              </a:rPr>
              <a:t> — 11th Edition, Pearson Education. The most widely used academic and professional textbook on derivatives, covering options pricing models, the Greeks, volatility surfaces, and risk management strategies in comprehensive detail.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bg1">
                  <a:lumMod val="85000"/>
                </a:schemeClr>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bg1">
                    <a:lumMod val="85000"/>
                  </a:schemeClr>
                </a:solidFill>
                <a:effectLst/>
                <a:latin typeface="+mj-lt"/>
              </a:rPr>
              <a:t>Natenberg</a:t>
            </a:r>
            <a:r>
              <a:rPr kumimoji="0" lang="en-US" altLang="en-US" b="1" i="0" u="none" strike="noStrike" cap="none" normalizeH="0" baseline="0" dirty="0">
                <a:ln>
                  <a:noFill/>
                </a:ln>
                <a:solidFill>
                  <a:schemeClr val="bg1">
                    <a:lumMod val="85000"/>
                  </a:schemeClr>
                </a:solidFill>
                <a:effectLst/>
                <a:latin typeface="+mj-lt"/>
              </a:rPr>
              <a:t>, S. (1994)</a:t>
            </a:r>
            <a:r>
              <a:rPr kumimoji="0" lang="en-US" altLang="en-US" b="0" i="0" u="none" strike="noStrike" cap="none" normalizeH="0" baseline="0" dirty="0">
                <a:ln>
                  <a:noFill/>
                </a:ln>
                <a:solidFill>
                  <a:schemeClr val="bg1">
                    <a:lumMod val="85000"/>
                  </a:schemeClr>
                </a:solidFill>
                <a:effectLst/>
                <a:latin typeface="+mj-lt"/>
              </a:rPr>
              <a:t> </a:t>
            </a:r>
            <a:r>
              <a:rPr kumimoji="0" lang="en-US" altLang="en-US" sz="1400" b="0" i="0" u="none" strike="noStrike" cap="none" normalizeH="0" baseline="0" dirty="0">
                <a:ln>
                  <a:noFill/>
                </a:ln>
                <a:solidFill>
                  <a:schemeClr val="bg1">
                    <a:lumMod val="85000"/>
                  </a:schemeClr>
                </a:solidFill>
                <a:effectLst/>
                <a:latin typeface="+mj-lt"/>
              </a:rPr>
              <a:t>— </a:t>
            </a:r>
            <a:r>
              <a:rPr kumimoji="0" lang="en-US" altLang="en-US" sz="1400" b="0" i="1" u="none" strike="noStrike" cap="none" normalizeH="0" baseline="0" dirty="0">
                <a:ln>
                  <a:noFill/>
                </a:ln>
                <a:solidFill>
                  <a:schemeClr val="bg1">
                    <a:lumMod val="85000"/>
                  </a:schemeClr>
                </a:solidFill>
                <a:effectLst/>
                <a:latin typeface="+mj-lt"/>
              </a:rPr>
              <a:t>"</a:t>
            </a:r>
            <a:r>
              <a:rPr kumimoji="0" lang="en-US" altLang="en-US" sz="1600" b="0" i="1" u="none" strike="noStrike" cap="none" normalizeH="0" baseline="0" dirty="0">
                <a:ln>
                  <a:noFill/>
                </a:ln>
                <a:solidFill>
                  <a:schemeClr val="bg1">
                    <a:lumMod val="85000"/>
                  </a:schemeClr>
                </a:solidFill>
                <a:effectLst/>
                <a:latin typeface="+mj-lt"/>
              </a:rPr>
              <a:t>Option Volatility and Pricing: Advanced Trading Strategies and Techniques</a:t>
            </a:r>
            <a:r>
              <a:rPr kumimoji="0" lang="en-US" altLang="en-US" sz="1400" b="0" i="1" u="none" strike="noStrike" cap="none" normalizeH="0" baseline="0" dirty="0">
                <a:ln>
                  <a:noFill/>
                </a:ln>
                <a:solidFill>
                  <a:schemeClr val="bg1">
                    <a:lumMod val="85000"/>
                  </a:schemeClr>
                </a:solidFill>
                <a:effectLst/>
                <a:latin typeface="+mj-lt"/>
              </a:rPr>
              <a:t>"</a:t>
            </a:r>
            <a:r>
              <a:rPr kumimoji="0" lang="en-US" altLang="en-US" sz="1400" b="0" i="0" u="none" strike="noStrike" cap="none" normalizeH="0" baseline="0" dirty="0">
                <a:ln>
                  <a:noFill/>
                </a:ln>
                <a:solidFill>
                  <a:schemeClr val="bg1">
                    <a:lumMod val="85000"/>
                  </a:schemeClr>
                </a:solidFill>
                <a:effectLst/>
                <a:latin typeface="+mj-lt"/>
              </a:rPr>
              <a:t> — McGraw-Hill. Considered the bible of options trading by professional market makers and institutional traders, with deep focus on implied volatility, pricing models, and real-world strategy application.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bg1">
                  <a:lumMod val="85000"/>
                </a:schemeClr>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bg1">
                    <a:lumMod val="85000"/>
                  </a:schemeClr>
                </a:solidFill>
                <a:effectLst/>
                <a:latin typeface="+mj-lt"/>
              </a:rPr>
              <a:t>Chicago Board Options Exchange — CBOE (2024)</a:t>
            </a:r>
            <a:r>
              <a:rPr kumimoji="0" lang="en-US" altLang="en-US" b="0" i="0" u="none" strike="noStrike" cap="none" normalizeH="0" baseline="0" dirty="0">
                <a:ln>
                  <a:noFill/>
                </a:ln>
                <a:solidFill>
                  <a:schemeClr val="bg1">
                    <a:lumMod val="85000"/>
                  </a:schemeClr>
                </a:solidFill>
                <a:effectLst/>
                <a:latin typeface="+mj-lt"/>
              </a:rPr>
              <a:t> </a:t>
            </a:r>
            <a:r>
              <a:rPr kumimoji="0" lang="en-US" altLang="en-US" sz="1600" b="0" i="0" u="none" strike="noStrike" cap="none" normalizeH="0" baseline="0" dirty="0">
                <a:ln>
                  <a:noFill/>
                </a:ln>
                <a:solidFill>
                  <a:schemeClr val="bg1">
                    <a:lumMod val="85000"/>
                  </a:schemeClr>
                </a:solidFill>
                <a:effectLst/>
                <a:latin typeface="+mj-lt"/>
              </a:rPr>
              <a:t>— </a:t>
            </a:r>
            <a:r>
              <a:rPr kumimoji="0" lang="en-US" altLang="en-US" sz="1600" b="0" i="1" u="none" strike="noStrike" cap="none" normalizeH="0" baseline="0" dirty="0">
                <a:ln>
                  <a:noFill/>
                </a:ln>
                <a:solidFill>
                  <a:schemeClr val="bg1">
                    <a:lumMod val="85000"/>
                  </a:schemeClr>
                </a:solidFill>
                <a:effectLst/>
                <a:latin typeface="+mj-lt"/>
              </a:rPr>
              <a:t>Options Institute Education Resources &amp; VIX White Paper</a:t>
            </a:r>
            <a:r>
              <a:rPr kumimoji="0" lang="en-US" altLang="en-US" sz="1600" b="0" i="0" u="none" strike="noStrike" cap="none" normalizeH="0" baseline="0" dirty="0">
                <a:ln>
                  <a:noFill/>
                </a:ln>
                <a:solidFill>
                  <a:schemeClr val="bg1">
                    <a:lumMod val="85000"/>
                  </a:schemeClr>
                </a:solidFill>
                <a:effectLst/>
                <a:latin typeface="+mj-lt"/>
              </a:rPr>
              <a:t> </a:t>
            </a:r>
            <a:r>
              <a:rPr kumimoji="0" lang="en-US" altLang="en-US" sz="1400" b="0" i="0" u="none" strike="noStrike" cap="none" normalizeH="0" baseline="0" dirty="0">
                <a:ln>
                  <a:noFill/>
                </a:ln>
                <a:solidFill>
                  <a:schemeClr val="bg1">
                    <a:lumMod val="85000"/>
                  </a:schemeClr>
                </a:solidFill>
                <a:effectLst/>
                <a:latin typeface="+mj-lt"/>
              </a:rPr>
              <a:t>— Available at </a:t>
            </a:r>
            <a:r>
              <a:rPr kumimoji="0" lang="en-US" altLang="en-US" sz="1400" b="0" i="0" u="none" strike="noStrike" cap="none" normalizeH="0" baseline="0" dirty="0">
                <a:ln>
                  <a:noFill/>
                </a:ln>
                <a:solidFill>
                  <a:schemeClr val="bg1">
                    <a:lumMod val="85000"/>
                  </a:schemeClr>
                </a:solidFill>
                <a:effectLst/>
                <a:latin typeface="+mj-lt"/>
                <a:hlinkClick r:id="rId2">
                  <a:extLst>
                    <a:ext uri="{A12FA001-AC4F-418D-AE19-62706E023703}">
                      <ahyp:hlinkClr xmlns:ahyp="http://schemas.microsoft.com/office/drawing/2018/hyperlinkcolor" val="tx"/>
                    </a:ext>
                  </a:extLst>
                </a:hlinkClick>
              </a:rPr>
              <a:t>www.cboe.com</a:t>
            </a:r>
            <a:r>
              <a:rPr kumimoji="0" lang="en-US" altLang="en-US" sz="1400" b="0" i="0" u="none" strike="noStrike" cap="none" normalizeH="0" baseline="0" dirty="0">
                <a:ln>
                  <a:noFill/>
                </a:ln>
                <a:solidFill>
                  <a:schemeClr val="bg1">
                    <a:lumMod val="85000"/>
                  </a:schemeClr>
                </a:solidFill>
                <a:effectLst/>
                <a:latin typeface="+mj-lt"/>
              </a:rPr>
              <a:t>. The official exchange resource for options education, volatility index methodology, market data, and trader guidelines used by professionals globally as a primary reference for implied volatility and market sentiment.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bg1">
                  <a:lumMod val="85000"/>
                </a:schemeClr>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bg1">
                    <a:lumMod val="85000"/>
                  </a:schemeClr>
                </a:solidFill>
                <a:effectLst/>
                <a:latin typeface="+mj-lt"/>
              </a:rPr>
              <a:t>DayTradeInsight.com (2024)</a:t>
            </a:r>
            <a:r>
              <a:rPr kumimoji="0" lang="en-US" altLang="en-US" b="0" i="0" u="none" strike="noStrike" cap="none" normalizeH="0" baseline="0" dirty="0">
                <a:ln>
                  <a:noFill/>
                </a:ln>
                <a:solidFill>
                  <a:schemeClr val="bg1">
                    <a:lumMod val="85000"/>
                  </a:schemeClr>
                </a:solidFill>
                <a:effectLst/>
                <a:latin typeface="+mj-lt"/>
              </a:rPr>
              <a:t> </a:t>
            </a:r>
            <a:r>
              <a:rPr kumimoji="0" lang="en-US" altLang="en-US" sz="1400" b="0" i="0" u="none" strike="noStrike" cap="none" normalizeH="0" baseline="0" dirty="0">
                <a:ln>
                  <a:noFill/>
                </a:ln>
                <a:solidFill>
                  <a:schemeClr val="bg1">
                    <a:lumMod val="85000"/>
                  </a:schemeClr>
                </a:solidFill>
                <a:effectLst/>
                <a:latin typeface="+mj-lt"/>
              </a:rPr>
              <a:t>— </a:t>
            </a:r>
            <a:r>
              <a:rPr kumimoji="0" lang="en-US" altLang="en-US" sz="1400" b="0" i="1" u="none" strike="noStrike" cap="none" normalizeH="0" baseline="0" dirty="0">
                <a:ln>
                  <a:noFill/>
                </a:ln>
                <a:solidFill>
                  <a:schemeClr val="bg1">
                    <a:lumMod val="85000"/>
                  </a:schemeClr>
                </a:solidFill>
                <a:effectLst/>
                <a:latin typeface="+mj-lt"/>
              </a:rPr>
              <a:t>"</a:t>
            </a:r>
            <a:r>
              <a:rPr kumimoji="0" lang="en-US" altLang="en-US" sz="1600" b="0" i="1" u="none" strike="noStrike" cap="none" normalizeH="0" baseline="0" dirty="0">
                <a:ln>
                  <a:noFill/>
                </a:ln>
                <a:solidFill>
                  <a:schemeClr val="bg1">
                    <a:lumMod val="85000"/>
                  </a:schemeClr>
                </a:solidFill>
                <a:effectLst/>
                <a:latin typeface="+mj-lt"/>
              </a:rPr>
              <a:t>Options Pricing</a:t>
            </a:r>
            <a:r>
              <a:rPr kumimoji="0" lang="en-US" altLang="en-US" sz="1400" b="0" i="1" u="none" strike="noStrike" cap="none" normalizeH="0" baseline="0" dirty="0">
                <a:ln>
                  <a:noFill/>
                </a:ln>
                <a:solidFill>
                  <a:schemeClr val="bg1">
                    <a:lumMod val="85000"/>
                  </a:schemeClr>
                </a:solidFill>
                <a:effectLst/>
                <a:latin typeface="+mj-lt"/>
              </a:rPr>
              <a:t>"</a:t>
            </a:r>
            <a:r>
              <a:rPr kumimoji="0" lang="en-US" altLang="en-US" sz="1400" b="0" i="0" u="none" strike="noStrike" cap="none" normalizeH="0" baseline="0" dirty="0">
                <a:ln>
                  <a:noFill/>
                </a:ln>
                <a:solidFill>
                  <a:schemeClr val="bg1">
                    <a:lumMod val="85000"/>
                  </a:schemeClr>
                </a:solidFill>
                <a:effectLst/>
                <a:latin typeface="+mj-lt"/>
              </a:rPr>
              <a:t> — Blog Publication, Available at daytradeinsight.com/</a:t>
            </a:r>
            <a:r>
              <a:rPr kumimoji="0" lang="en-US" altLang="en-US" sz="1400" b="0" i="0" u="none" strike="noStrike" cap="none" normalizeH="0" baseline="0" dirty="0" err="1">
                <a:ln>
                  <a:noFill/>
                </a:ln>
                <a:solidFill>
                  <a:schemeClr val="bg1">
                    <a:lumMod val="85000"/>
                  </a:schemeClr>
                </a:solidFill>
                <a:effectLst/>
                <a:latin typeface="+mj-lt"/>
              </a:rPr>
              <a:t>blogs.php?q</a:t>
            </a:r>
            <a:r>
              <a:rPr kumimoji="0" lang="en-US" altLang="en-US" sz="1400" b="0" i="0" u="none" strike="noStrike" cap="none" normalizeH="0" baseline="0" dirty="0">
                <a:ln>
                  <a:noFill/>
                </a:ln>
                <a:solidFill>
                  <a:schemeClr val="bg1">
                    <a:lumMod val="85000"/>
                  </a:schemeClr>
                </a:solidFill>
                <a:effectLst/>
                <a:latin typeface="+mj-lt"/>
              </a:rPr>
              <a:t>=Options-Pricing. The primary source for this presentation, providing practical trader-focused insights on options pricing concepts, premium components, volatility interpretation, and day trading strategies tailored for active retail market participants. </a:t>
            </a:r>
          </a:p>
        </p:txBody>
      </p:sp>
    </p:spTree>
    <p:extLst>
      <p:ext uri="{BB962C8B-B14F-4D97-AF65-F5344CB8AC3E}">
        <p14:creationId xmlns:p14="http://schemas.microsoft.com/office/powerpoint/2010/main" val="3846094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ADDB4-6092-0C03-78B3-504A0939952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04C2801-170F-5B98-8022-00637FE11831}"/>
              </a:ext>
            </a:extLst>
          </p:cNvPr>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3AA43D6E-8AA4-5AC7-F6FD-E3F63CC69B70}"/>
              </a:ext>
            </a:extLst>
          </p:cNvPr>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6337F606-46F3-FF75-4230-E7750612ADAA}"/>
              </a:ext>
            </a:extLst>
          </p:cNvPr>
          <p:cNvSpPr/>
          <p:nvPr/>
        </p:nvSpPr>
        <p:spPr>
          <a:xfrm>
            <a:off x="0" y="0"/>
            <a:ext cx="274320" cy="68580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04B2D51F-3700-8EBA-53BD-CD8E68DEB17A}"/>
              </a:ext>
            </a:extLst>
          </p:cNvPr>
          <p:cNvSpPr txBox="1"/>
          <p:nvPr/>
        </p:nvSpPr>
        <p:spPr>
          <a:xfrm>
            <a:off x="768096" y="1737360"/>
            <a:ext cx="10058400" cy="1371600"/>
          </a:xfrm>
          <a:prstGeom prst="rect">
            <a:avLst/>
          </a:prstGeom>
          <a:noFill/>
        </p:spPr>
        <p:txBody>
          <a:bodyPr wrap="square">
            <a:spAutoFit/>
          </a:bodyPr>
          <a:lstStyle/>
          <a:p>
            <a:pPr algn="ctr"/>
            <a:r>
              <a:rPr sz="6400" b="1" i="0" dirty="0">
                <a:solidFill>
                  <a:srgbClr val="FFFFFF"/>
                </a:solidFill>
                <a:latin typeface="Calibri"/>
              </a:rPr>
              <a:t>THANK YOU</a:t>
            </a:r>
          </a:p>
        </p:txBody>
      </p:sp>
      <p:sp>
        <p:nvSpPr>
          <p:cNvPr id="7" name="Rectangle 6">
            <a:extLst>
              <a:ext uri="{FF2B5EF4-FFF2-40B4-BE49-F238E27FC236}">
                <a16:creationId xmlns:a16="http://schemas.microsoft.com/office/drawing/2014/main" id="{C50E322E-4B2A-6DAD-EBCC-04240C53CA70}"/>
              </a:ext>
            </a:extLst>
          </p:cNvPr>
          <p:cNvSpPr/>
          <p:nvPr/>
        </p:nvSpPr>
        <p:spPr>
          <a:xfrm>
            <a:off x="3657600" y="2926080"/>
            <a:ext cx="4846320" cy="64008"/>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787D2355-B7E4-4EA3-89B3-9AA96F2B8F67}"/>
              </a:ext>
            </a:extLst>
          </p:cNvPr>
          <p:cNvSpPr txBox="1"/>
          <p:nvPr/>
        </p:nvSpPr>
        <p:spPr>
          <a:xfrm>
            <a:off x="914400" y="3108960"/>
            <a:ext cx="10058400" cy="640080"/>
          </a:xfrm>
          <a:prstGeom prst="rect">
            <a:avLst/>
          </a:prstGeom>
          <a:noFill/>
        </p:spPr>
        <p:txBody>
          <a:bodyPr wrap="square">
            <a:spAutoFit/>
          </a:bodyPr>
          <a:lstStyle/>
          <a:p>
            <a:pPr algn="ctr"/>
            <a:r>
              <a:rPr sz="2000" b="0" i="1">
                <a:solidFill>
                  <a:srgbClr val="CCE5FF"/>
                </a:solidFill>
                <a:latin typeface="Calibri"/>
              </a:rPr>
              <a:t>Options Pricing for Day Trade Insight</a:t>
            </a:r>
          </a:p>
        </p:txBody>
      </p:sp>
    </p:spTree>
    <p:extLst>
      <p:ext uri="{BB962C8B-B14F-4D97-AF65-F5344CB8AC3E}">
        <p14:creationId xmlns:p14="http://schemas.microsoft.com/office/powerpoint/2010/main" val="8168289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72</TotalTime>
  <Words>1589</Words>
  <Application>Microsoft Office PowerPoint</Application>
  <PresentationFormat>Custom</PresentationFormat>
  <Paragraphs>161</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Mohammed Zubair Uddin Zameer</cp:lastModifiedBy>
  <cp:revision>2</cp:revision>
  <dcterms:created xsi:type="dcterms:W3CDTF">2013-01-27T09:14:16Z</dcterms:created>
  <dcterms:modified xsi:type="dcterms:W3CDTF">2026-03-28T19:02:14Z</dcterms:modified>
  <cp:category/>
</cp:coreProperties>
</file>